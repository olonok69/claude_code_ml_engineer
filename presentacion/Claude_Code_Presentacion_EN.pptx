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93" r:id="rId44"/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94" r:id="rId45"/>
    <p:sldId id="272" r:id="rId23"/>
    <p:sldId id="273" r:id="rId24"/>
    <p:sldId id="274" r:id="rId25"/>
    <p:sldId id="275" r:id="rId26"/>
    <p:sldId id="276" r:id="rId27"/>
    <p:sldId id="295" r:id="rId46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Segoe UI"/>
              </a:rPr>
              <a:t>COURSE / WORKSHOP · DEVELOPER TOOLING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6000" b="1">
                <a:solidFill>
                  <a:srgbClr val="E8EAED"/>
                </a:solidFill>
                <a:latin typeface="Segoe UI"/>
              </a:rPr>
              <a:t>Claude Code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2600" b="0">
                <a:solidFill>
                  <a:srgbClr val="9AA4B2"/>
                </a:solidFill>
                <a:latin typeface="Segoe UI"/>
              </a:rPr>
              <a:t>from assistant to </a:t>
            </a:r>
            <a:r>
              <a:rPr sz="2600" b="1">
                <a:solidFill>
                  <a:srgbClr val="E8EAED"/>
                </a:solidFill>
                <a:latin typeface="Segoe UI"/>
              </a:rPr>
              <a:t>agentic development 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932688" y="3840480"/>
            <a:ext cx="1280160" cy="457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069080"/>
            <a:ext cx="105156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D97757"/>
                </a:solidFill>
                <a:latin typeface="Segoe UI"/>
              </a:rPr>
              <a:t>PART 1 — </a:t>
            </a:r>
            <a:r>
              <a:rPr sz="1350" b="0">
                <a:solidFill>
                  <a:srgbClr val="9AA4B2"/>
                </a:solidFill>
                <a:latin typeface="Segoe UI"/>
              </a:rPr>
              <a:t>Claude Code: install · memory · context &amp; caching · MCP · skills · subagents &amp; teams · automation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7AA2C7"/>
                </a:solidFill>
                <a:latin typeface="Segoe UI"/>
              </a:rPr>
              <a:t>PART 2 — </a:t>
            </a:r>
            <a:r>
              <a:rPr sz="1350" b="0">
                <a:solidFill>
                  <a:srgbClr val="9AA4B2"/>
                </a:solidFill>
                <a:latin typeface="Segoe UI"/>
              </a:rPr>
              <a:t>The methodology (agnostic): workflow with gates · CodeGraph / Serena / GSD · transfer · ops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8CC28C"/>
                </a:solidFill>
                <a:latin typeface="Segoe UI"/>
              </a:rPr>
              <a:t>PART 3 — </a:t>
            </a:r>
            <a:r>
              <a:rPr sz="1350" b="0">
                <a:solidFill>
                  <a:srgbClr val="9AA4B2"/>
                </a:solidFill>
                <a:latin typeface="Segoe UI"/>
              </a:rPr>
              <a:t>The ticket knowledge graph, built with graphify: pipeline, /kg commands and the real graph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126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6707E"/>
                </a:solidFill>
                <a:latin typeface="Segoe UI"/>
              </a:rPr>
              <a:t>Based on the official docs (code.claude.com), Anthropic's hooks course, GSD, CodeGraph and a real production install.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One course, three parts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Claude Code · Course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5349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Segoe UI"/>
              </a:rPr>
              <a:t>PART 1 · Claude Code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194560"/>
            <a:ext cx="5349240" cy="438912"/>
          </a:xfrm>
          <a:prstGeom prst="roundRect">
            <a:avLst>
              <a:gd name="adj" fmla="val 14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231136"/>
            <a:ext cx="5029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E8EAED"/>
                </a:solidFill>
                <a:latin typeface="Segoe UI"/>
              </a:rPr>
              <a:t>01  Install and basic use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706624"/>
            <a:ext cx="5349240" cy="438912"/>
          </a:xfrm>
          <a:prstGeom prst="roundRect">
            <a:avLst>
              <a:gd name="adj" fmla="val 14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743200"/>
            <a:ext cx="5029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E8EAED"/>
                </a:solidFill>
                <a:latin typeface="Segoe UI"/>
              </a:rPr>
              <a:t>02  Memory, instructions and sessions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218688"/>
            <a:ext cx="5349240" cy="438912"/>
          </a:xfrm>
          <a:prstGeom prst="roundRect">
            <a:avLst>
              <a:gd name="adj" fmla="val 14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255264"/>
            <a:ext cx="5029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E8EAED"/>
                </a:solidFill>
                <a:latin typeface="Segoe UI"/>
              </a:rPr>
              <a:t>03  Context: context window and prompt caching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30752"/>
            <a:ext cx="5349240" cy="438912"/>
          </a:xfrm>
          <a:prstGeom prst="roundRect">
            <a:avLst>
              <a:gd name="adj" fmla="val 14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767328"/>
            <a:ext cx="5029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E8EAED"/>
                </a:solidFill>
                <a:latin typeface="Segoe UI"/>
              </a:rPr>
              <a:t>04  MCP — connect your tools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242816"/>
            <a:ext cx="5349240" cy="438912"/>
          </a:xfrm>
          <a:prstGeom prst="roundRect">
            <a:avLst>
              <a:gd name="adj" fmla="val 14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279392"/>
            <a:ext cx="5029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E8EAED"/>
                </a:solidFill>
                <a:latin typeface="Segoe UI"/>
              </a:rPr>
              <a:t>05  Plugins, tools and skills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754880"/>
            <a:ext cx="5349240" cy="438912"/>
          </a:xfrm>
          <a:prstGeom prst="roundRect">
            <a:avLst>
              <a:gd name="adj" fmla="val 14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791456"/>
            <a:ext cx="5029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E8EAED"/>
                </a:solidFill>
                <a:latin typeface="Segoe UI"/>
              </a:rPr>
              <a:t>06  Subagents and Agent Teams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266944"/>
            <a:ext cx="5349240" cy="438912"/>
          </a:xfrm>
          <a:prstGeom prst="roundRect">
            <a:avLst>
              <a:gd name="adj" fmla="val 14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5303520"/>
            <a:ext cx="5029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E8EAED"/>
                </a:solidFill>
                <a:latin typeface="Segoe UI"/>
              </a:rPr>
              <a:t>07  Automation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1783080"/>
            <a:ext cx="5349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7AA2C7"/>
                </a:solidFill>
                <a:latin typeface="Segoe UI"/>
              </a:rPr>
              <a:t>PART 2 · The methodology (agnostic)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2194560"/>
            <a:ext cx="5349240" cy="438912"/>
          </a:xfrm>
          <a:prstGeom prst="roundRect">
            <a:avLst>
              <a:gd name="adj" fmla="val 14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2231136"/>
            <a:ext cx="5029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E8EAED"/>
                </a:solidFill>
                <a:latin typeface="Segoe UI"/>
              </a:rPr>
              <a:t>08  The 11-stage workflow + real example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2706624"/>
            <a:ext cx="5349240" cy="438912"/>
          </a:xfrm>
          <a:prstGeom prst="roundRect">
            <a:avLst>
              <a:gd name="adj" fmla="val 14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2743200"/>
            <a:ext cx="5029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E8EAED"/>
                </a:solidFill>
                <a:latin typeface="Segoe UI"/>
              </a:rPr>
              <a:t>09  The method's tools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3218688"/>
            <a:ext cx="5349240" cy="438912"/>
          </a:xfrm>
          <a:prstGeom prst="roundRect">
            <a:avLst>
              <a:gd name="adj" fmla="val 14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3255264"/>
            <a:ext cx="5029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E8EAED"/>
                </a:solidFill>
                <a:latin typeface="Segoe UI"/>
              </a:rPr>
              <a:t>10  Transfer the methodology (Copilot)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3730752"/>
            <a:ext cx="5349240" cy="438912"/>
          </a:xfrm>
          <a:prstGeom prst="roundRect">
            <a:avLst>
              <a:gd name="adj" fmla="val 14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46520" y="3767328"/>
            <a:ext cx="5029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E8EAED"/>
                </a:solidFill>
                <a:latin typeface="Segoe UI"/>
              </a:rPr>
              <a:t>11  Machine sync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4343400"/>
            <a:ext cx="5349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8CC28C"/>
                </a:solidFill>
                <a:latin typeface="Segoe UI"/>
              </a:rPr>
              <a:t>PART 3 · The ticket graph (graphify)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4754880"/>
            <a:ext cx="5349240" cy="438912"/>
          </a:xfrm>
          <a:prstGeom prst="roundRect">
            <a:avLst>
              <a:gd name="adj" fmla="val 14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46520" y="4791456"/>
            <a:ext cx="5029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E8EAED"/>
                </a:solidFill>
                <a:latin typeface="Segoe UI"/>
              </a:rPr>
              <a:t>12  Design · pipeline · /kg commands · the real graph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5266944"/>
            <a:ext cx="5349240" cy="438912"/>
          </a:xfrm>
          <a:prstGeom prst="roundRect">
            <a:avLst>
              <a:gd name="adj" fmla="val 14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5303520"/>
            <a:ext cx="5029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E8EAED"/>
                </a:solidFill>
                <a:latin typeface="Segoe UI"/>
              </a:rPr>
              <a:t>13  Closing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Segoe UI"/>
              </a:rPr>
              <a:t>PART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400" b="1">
                <a:solidFill>
                  <a:srgbClr val="E8EAED"/>
                </a:solidFill>
                <a:latin typeface="Segoe UI"/>
              </a:rPr>
              <a:t>Claude Code</a:t>
            </a:r>
          </a:p>
        </p:txBody>
      </p:sp>
      <p:sp>
        <p:nvSpPr>
          <p:cNvPr id="7" name="Rectangle 6"/>
          <p:cNvSpPr/>
          <p:nvPr/>
        </p:nvSpPr>
        <p:spPr>
          <a:xfrm>
            <a:off x="932688" y="2606040"/>
            <a:ext cx="1280160" cy="457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88920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9AA4B2"/>
                </a:solidFill>
                <a:latin typeface="Segoe UI"/>
              </a:rPr>
              <a:t>The tool: from the binary in your terminal to agent teams.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520440"/>
            <a:ext cx="5212080" cy="475488"/>
          </a:xfrm>
          <a:prstGeom prst="roundRect">
            <a:avLst>
              <a:gd name="adj" fmla="val 1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566160"/>
            <a:ext cx="48463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EAED"/>
                </a:solidFill>
                <a:latin typeface="Segoe UI"/>
              </a:rPr>
              <a:t>01 · Install and basic use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3520440"/>
            <a:ext cx="5212080" cy="475488"/>
          </a:xfrm>
          <a:prstGeom prst="roundRect">
            <a:avLst>
              <a:gd name="adj" fmla="val 1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3566160"/>
            <a:ext cx="48463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EAED"/>
                </a:solidFill>
                <a:latin typeface="Segoe UI"/>
              </a:rPr>
              <a:t>02 · Memory and sessions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087368"/>
            <a:ext cx="5212080" cy="475488"/>
          </a:xfrm>
          <a:prstGeom prst="roundRect">
            <a:avLst>
              <a:gd name="adj" fmla="val 1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4133087"/>
            <a:ext cx="48463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EAED"/>
                </a:solidFill>
                <a:latin typeface="Segoe UI"/>
              </a:rPr>
              <a:t>03 · Context and prompt caching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4087368"/>
            <a:ext cx="5212080" cy="475488"/>
          </a:xfrm>
          <a:prstGeom prst="roundRect">
            <a:avLst>
              <a:gd name="adj" fmla="val 1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4133087"/>
            <a:ext cx="48463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EAED"/>
                </a:solidFill>
                <a:latin typeface="Segoe UI"/>
              </a:rPr>
              <a:t>04 · MCP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654296"/>
            <a:ext cx="5212080" cy="475488"/>
          </a:xfrm>
          <a:prstGeom prst="roundRect">
            <a:avLst>
              <a:gd name="adj" fmla="val 1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4700016"/>
            <a:ext cx="48463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EAED"/>
                </a:solidFill>
                <a:latin typeface="Segoe UI"/>
              </a:rPr>
              <a:t>05 · Plugins, tools and skills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4654296"/>
            <a:ext cx="5212080" cy="475488"/>
          </a:xfrm>
          <a:prstGeom prst="roundRect">
            <a:avLst>
              <a:gd name="adj" fmla="val 1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4700016"/>
            <a:ext cx="48463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EAED"/>
                </a:solidFill>
                <a:latin typeface="Segoe UI"/>
              </a:rPr>
              <a:t>06 · Subagents and Agent Teams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5221224"/>
            <a:ext cx="5212080" cy="475488"/>
          </a:xfrm>
          <a:prstGeom prst="roundRect">
            <a:avLst>
              <a:gd name="adj" fmla="val 1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5266944"/>
            <a:ext cx="48463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EAED"/>
                </a:solidFill>
                <a:latin typeface="Segoe UI"/>
              </a:rPr>
              <a:t>07 · Automation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 1 · 01 · INSTALL AND BASIC 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Install is one 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Claude Code · Course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74519"/>
            <a:ext cx="5335524" cy="914400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41247" y="2075688"/>
            <a:ext cx="457200" cy="457200"/>
          </a:xfrm>
          <a:prstGeom prst="roundRect">
            <a:avLst>
              <a:gd name="adj" fmla="val 32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093976"/>
            <a:ext cx="457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020824"/>
            <a:ext cx="43754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Native (recommended)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331720"/>
            <a:ext cx="4375404" cy="4114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curl -fsSL https://claude.ai/install.sh | bash — macOS/Linux/WSL, with auto-update.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1636" y="1874519"/>
            <a:ext cx="5335524" cy="914400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32804" y="2075688"/>
            <a:ext cx="457200" cy="457200"/>
          </a:xfrm>
          <a:prstGeom prst="roundRect">
            <a:avLst>
              <a:gd name="adj" fmla="val 32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2804" y="2093976"/>
            <a:ext cx="457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54596" y="2020824"/>
            <a:ext cx="43754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Homebrew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54596" y="2331720"/>
            <a:ext cx="4375404" cy="4114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brew install --cask claude-code (brew upgrade to update).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044952"/>
            <a:ext cx="5335524" cy="914400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1247" y="3246120"/>
            <a:ext cx="457200" cy="457200"/>
          </a:xfrm>
          <a:prstGeom prst="roundRect">
            <a:avLst>
              <a:gd name="adj" fmla="val 32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3264408"/>
            <a:ext cx="457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3191256"/>
            <a:ext cx="43754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Windows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3502152"/>
            <a:ext cx="4375404" cy="4114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winget install Anthropic.ClaudeCode · or the PowerShell installer.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31636" y="3044952"/>
            <a:ext cx="5335524" cy="914400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32804" y="3246120"/>
            <a:ext cx="457200" cy="457200"/>
          </a:xfrm>
          <a:prstGeom prst="roundRect">
            <a:avLst>
              <a:gd name="adj" fmla="val 32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32804" y="3264408"/>
            <a:ext cx="457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54596" y="3191256"/>
            <a:ext cx="43754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Linux pkg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54596" y="3502152"/>
            <a:ext cx="4375404" cy="4114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apt / dnf / apk on Debian, Fedora, RHEL, Alpine.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3666744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Start in any project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3977639"/>
            <a:ext cx="5394960" cy="1234440"/>
          </a:xfrm>
          <a:prstGeom prst="roundRect">
            <a:avLst>
              <a:gd name="adj" fmla="val 5000"/>
            </a:avLst>
          </a:prstGeom>
          <a:solidFill>
            <a:srgbClr val="0A0E13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4160520"/>
            <a:ext cx="4937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cd your-project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claude            # login the 1st time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9360" y="3666744"/>
            <a:ext cx="5257800" cy="155448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0" y="3867911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7AA2C7"/>
                </a:solidFill>
                <a:latin typeface="Segoe UI"/>
              </a:rPr>
              <a:t>The same engine in all parts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4325112"/>
            <a:ext cx="4754880" cy="731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Terminal · VS Code / Cursor · JetBrains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Desktop (diffs, sessions in parallel)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Web (claude.ai/code, tasks long)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5806440"/>
            <a:ext cx="10927080" cy="475488"/>
          </a:xfrm>
          <a:prstGeom prst="roundRect">
            <a:avLst>
              <a:gd name="adj" fmla="val 28000"/>
            </a:avLst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40080" y="5806440"/>
            <a:ext cx="82296" cy="475488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Installing is trivial; the value is in how you use it.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 1 · 01 · INSTALL AND BASIC 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Two modes: interactive and headless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Claude Code · Course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74519"/>
            <a:ext cx="5349240" cy="228600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075688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Segoe UI"/>
              </a:rPr>
              <a:t>Interactive — thinking with you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7"/>
            <a:ext cx="48463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You open `claude` and talk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Plan mode: it proposes a plan and you approve before touching anything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Ideal for exploring, designing, debugging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874519"/>
            <a:ext cx="5349240" cy="228600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075688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7AA2C7"/>
                </a:solidFill>
                <a:latin typeface="Segoe UI"/>
              </a:rPr>
              <a:t>Headless (-p) — composable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532887"/>
            <a:ext cx="48463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One prompt: in via stdin, out via stdout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Fits Unix pipes and CI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The foundation of all automation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306824"/>
            <a:ext cx="10927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The same Claude, two ways to invoke 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617720"/>
            <a:ext cx="10927080" cy="1005840"/>
          </a:xfrm>
          <a:prstGeom prst="roundRect">
            <a:avLst>
              <a:gd name="adj" fmla="val 5000"/>
            </a:avLst>
          </a:prstGeom>
          <a:solidFill>
            <a:srgbClr val="0A0E13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800600"/>
            <a:ext cx="104698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tail -200 app.log | claude -p "flag any anomalies you see"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git diff main --name-only | claude -p "review these files for security"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 1 · 02 · MEMORY AND INSTRUCTIONS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CLAUDE.md: the two-tier pattern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Claude Code · Course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74519"/>
            <a:ext cx="5349240" cy="274320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075688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Segoe UI"/>
              </a:rPr>
              <a:t>Tier 1 — always loaded (small)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7"/>
            <a:ext cx="484632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Minimal orientation: what the project is, repo map, commands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Only one-line POINTERS to everything else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It's the agent's 30s onboarding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Write-once rule: the core points, doesn't copy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874519"/>
            <a:ext cx="5349240" cy="274320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075688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7AA2C7"/>
                </a:solidFill>
                <a:latin typeface="Segoe UI"/>
              </a:rPr>
              <a:t>Tier 2 — on demand (the detail)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532887"/>
            <a:ext cx="484632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data/changes/STATUS.md — live state per ticket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PLAYBOOK.md — debugging lessons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SHARP_EDGES.md — 'do not touch' invariants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&lt;TICKET&gt;/&lt;TICKET&gt;.md — ~55 self-contained ledgers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806440"/>
            <a:ext cx="10927080" cy="475488"/>
          </a:xfrm>
          <a:prstGeom prst="roundRect">
            <a:avLst>
              <a:gd name="adj" fmla="val 28000"/>
            </a:avLst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" y="5806440"/>
            <a:ext cx="82296" cy="475488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We cut CLAUDE.md ~73% with no information loss: pointers, not copies.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 1 · 02 · INSTRUCTIONS, PERMISSIONS AND AUTO-MEMORY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Hierarchy, permissions and automatic memory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Claude Code · Course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55063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CLAUDE.md hierarchy (they combine; @file imports)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965960"/>
            <a:ext cx="5486400" cy="2011680"/>
          </a:xfrm>
          <a:prstGeom prst="roundRect">
            <a:avLst>
              <a:gd name="adj" fmla="val 5000"/>
            </a:avLst>
          </a:prstGeom>
          <a:solidFill>
            <a:srgbClr val="0A0E13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148840"/>
            <a:ext cx="502920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~/.claude/CLAUDE.md      # user global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&lt;repo&gt;/CLAUDE.md         # shared (versioned)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&lt;repo&gt;/sub/CLAUDE.md     # on entering the subfolder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&lt;repo&gt;/CLAUDE.local.md   # personal, not versioned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664208"/>
            <a:ext cx="5166360" cy="233172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1865376"/>
            <a:ext cx="4709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8CC28C"/>
                </a:solidFill>
                <a:latin typeface="Segoe UI"/>
              </a:rPr>
              <a:t>Permissions = specific allowlist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322576"/>
            <a:ext cx="4663440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settings.json: allow / deny / ask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Concrete rules, not Bash(*)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mcp__serena__find_symbol, exact pytest…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The human owns push/PR/deploy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160520"/>
            <a:ext cx="10927080" cy="141732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361688"/>
            <a:ext cx="10469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7AA2C7"/>
                </a:solidFill>
                <a:latin typeface="Segoe UI"/>
              </a:rPr>
              <a:t>Auto-memory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818888"/>
            <a:ext cx="1042415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Claude stores learnings (build commands, debug hints) across sessions without you writing anything.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 1 · 02 · SESSIONS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Sessions that travel across surfaces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Claude Code · Course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65960"/>
            <a:ext cx="5335524" cy="1005840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41247" y="2167128"/>
            <a:ext cx="457200" cy="457200"/>
          </a:xfrm>
          <a:prstGeom prst="roundRect">
            <a:avLst>
              <a:gd name="adj" fmla="val 32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185415"/>
            <a:ext cx="457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112264"/>
            <a:ext cx="43754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Teleport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423160"/>
            <a:ext cx="437540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claude --teleport brings a web/mobile session to the terminal.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1636" y="1965960"/>
            <a:ext cx="5335524" cy="1005840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32804" y="2167128"/>
            <a:ext cx="457200" cy="457200"/>
          </a:xfrm>
          <a:prstGeom prst="roundRect">
            <a:avLst>
              <a:gd name="adj" fmla="val 32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2804" y="2185415"/>
            <a:ext cx="457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54596" y="2112264"/>
            <a:ext cx="43754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Remote Control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54596" y="2423160"/>
            <a:ext cx="437540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Follow a local session from your phone or any browser.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227832"/>
            <a:ext cx="5335524" cy="1005840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1247" y="3429000"/>
            <a:ext cx="457200" cy="457200"/>
          </a:xfrm>
          <a:prstGeom prst="roundRect">
            <a:avLst>
              <a:gd name="adj" fmla="val 32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3447288"/>
            <a:ext cx="457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3374136"/>
            <a:ext cx="43754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Desktop handoff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3685032"/>
            <a:ext cx="437540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/desktop hands the session to Desktop to review diffs.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31636" y="3227832"/>
            <a:ext cx="5335524" cy="1005840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32804" y="3429000"/>
            <a:ext cx="457200" cy="457200"/>
          </a:xfrm>
          <a:prstGeom prst="roundRect">
            <a:avLst>
              <a:gd name="adj" fmla="val 32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32804" y="3447288"/>
            <a:ext cx="457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54596" y="3374136"/>
            <a:ext cx="43754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Channels / Slack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54596" y="3685032"/>
            <a:ext cx="437540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Push external events or turn a Slack bug into a PR.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5806440"/>
            <a:ext cx="10927080" cy="475488"/>
          </a:xfrm>
          <a:prstGeom prst="roundRect">
            <a:avLst>
              <a:gd name="adj" fmla="val 28000"/>
            </a:avLst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40080" y="5806440"/>
            <a:ext cx="82296" cy="475488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The same engine and the same CLAUDE.md/settings/MCP across all surfaces.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 1 · 03 ·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Context window: the resource that governs everything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Claude Code · Course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28800"/>
            <a:ext cx="6949440" cy="438912"/>
          </a:xfrm>
          <a:prstGeom prst="roundRect">
            <a:avLst>
              <a:gd name="adj" fmla="val 12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65376"/>
            <a:ext cx="2377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System prompt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1865376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E8EAED"/>
                </a:solidFill>
                <a:latin typeface="Segoe UI"/>
              </a:rPr>
              <a:t>~4,200 tokens — hidden, always first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1865376"/>
            <a:ext cx="7772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AA4B2"/>
                </a:solidFill>
                <a:latin typeface="Segoe UI"/>
              </a:rPr>
              <a:t>fixed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359152"/>
            <a:ext cx="6949440" cy="438912"/>
          </a:xfrm>
          <a:prstGeom prst="roundRect">
            <a:avLst>
              <a:gd name="adj" fmla="val 12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395728"/>
            <a:ext cx="2377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Auto-memory + environment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2395728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E8EAED"/>
                </a:solidFill>
                <a:latin typeface="Segoe UI"/>
              </a:rPr>
              <a:t>~680 + ~280 tokens at startup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2395728"/>
            <a:ext cx="7772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AA4B2"/>
                </a:solidFill>
                <a:latin typeface="Segoe UI"/>
              </a:rPr>
              <a:t>fixed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889504"/>
            <a:ext cx="6949440" cy="438912"/>
          </a:xfrm>
          <a:prstGeom prst="roundRect">
            <a:avLst>
              <a:gd name="adj" fmla="val 12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2926080"/>
            <a:ext cx="2377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MCP tools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292608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E8EAED"/>
                </a:solidFill>
                <a:latin typeface="Segoe UI"/>
              </a:rPr>
              <a:t>index ~120 tokens; the schema, on tool use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2926080"/>
            <a:ext cx="7772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AA4B2"/>
                </a:solidFill>
                <a:latin typeface="Segoe UI"/>
              </a:rPr>
              <a:t>per server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19856"/>
            <a:ext cx="6949440" cy="438912"/>
          </a:xfrm>
          <a:prstGeom prst="roundRect">
            <a:avLst>
              <a:gd name="adj" fmla="val 12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3456432"/>
            <a:ext cx="2377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Your CLAUDE.md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3456432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E8EAED"/>
                </a:solidFill>
                <a:latin typeface="Segoe UI"/>
              </a:rPr>
              <a:t>whatever you decide — hence the two-tier pattern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3456432"/>
            <a:ext cx="7772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AA4B2"/>
                </a:solidFill>
                <a:latin typeface="Segoe UI"/>
              </a:rPr>
              <a:t>you decide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950208"/>
            <a:ext cx="6949440" cy="438912"/>
          </a:xfrm>
          <a:prstGeom prst="roundRect">
            <a:avLst>
              <a:gd name="adj" fmla="val 12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3986784"/>
            <a:ext cx="2377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Conversation + tool results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40" y="3986784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E8EAED"/>
                </a:solidFill>
                <a:latin typeface="Segoe UI"/>
              </a:rPr>
              <a:t>files read, command output… grows every turn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3986784"/>
            <a:ext cx="7772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AA4B2"/>
                </a:solidFill>
                <a:latin typeface="Segoe UI"/>
              </a:rPr>
              <a:t>grows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1837944"/>
            <a:ext cx="3703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The controls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63840" y="2148840"/>
            <a:ext cx="3703320" cy="2331720"/>
          </a:xfrm>
          <a:prstGeom prst="roundRect">
            <a:avLst>
              <a:gd name="adj" fmla="val 5000"/>
            </a:avLst>
          </a:prstGeom>
          <a:solidFill>
            <a:srgbClr val="0A0E13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19871" y="2331720"/>
            <a:ext cx="3246120" cy="20116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/context   # usage breakdown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/compact focus on the API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/clear     # reset between tasks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/rewind    # checkpoints (Esc+Esc)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4617720"/>
            <a:ext cx="10927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E8EAED"/>
                </a:solidFill>
                <a:latin typeface="Segoe UI"/>
              </a:rPr>
              <a:t>Window: 200K tokens (1M in beta via API). </a:t>
            </a:r>
            <a:r>
              <a:rPr sz="1200" b="0">
                <a:solidFill>
                  <a:srgbClr val="9AA4B2"/>
                </a:solidFill>
                <a:latin typeface="Segoe UI"/>
              </a:rPr>
              <a:t>Performance degrades BEFORE it fills: noisy context = worse decisions. Auto-compact fires near the limit and is lossy — better a focused manual /compact.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5806440"/>
            <a:ext cx="10927080" cy="475488"/>
          </a:xfrm>
          <a:prstGeom prst="roundRect">
            <a:avLst>
              <a:gd name="adj" fmla="val 28000"/>
            </a:avLst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40080" y="5806440"/>
            <a:ext cx="82296" cy="475488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Measure with /context before optimizing: it tells you exactly which block bloats.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 1 · 03 ·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Context hygiene: maximum signal per token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Claude Code · Course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28800"/>
            <a:ext cx="5335524" cy="1078992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41247" y="2029968"/>
            <a:ext cx="457200" cy="457200"/>
          </a:xfrm>
          <a:prstGeom prst="roundRect">
            <a:avLst>
              <a:gd name="adj" fmla="val 32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048256"/>
            <a:ext cx="457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1975104"/>
            <a:ext cx="43754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Minimal CLAUDE.md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286000"/>
            <a:ext cx="4375404" cy="5760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Official rule: if you can delete it without Claude going wrong, delete it. Two tiers + pointers.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1636" y="1828800"/>
            <a:ext cx="5335524" cy="1078992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32804" y="2029968"/>
            <a:ext cx="457200" cy="457200"/>
          </a:xfrm>
          <a:prstGeom prst="roundRect">
            <a:avLst>
              <a:gd name="adj" fmla="val 32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2804" y="2048256"/>
            <a:ext cx="457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54596" y="1975104"/>
            <a:ext cx="43754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Loads on demand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54596" y="2286000"/>
            <a:ext cx="4375404" cy="5760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@imports and subfolder CLAUDE.md load only when needed. Detail lives outside.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163824"/>
            <a:ext cx="5335524" cy="1078992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1247" y="3364992"/>
            <a:ext cx="457200" cy="457200"/>
          </a:xfrm>
          <a:prstGeom prst="roundRect">
            <a:avLst>
              <a:gd name="adj" fmla="val 32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3383280"/>
            <a:ext cx="457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3310128"/>
            <a:ext cx="43754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MCP in moderation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3621024"/>
            <a:ext cx="4375404" cy="5760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Each server adds its tools block. Disable the ones the project doesn't use.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31636" y="3163824"/>
            <a:ext cx="5335524" cy="1078992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32804" y="3364992"/>
            <a:ext cx="457200" cy="457200"/>
          </a:xfrm>
          <a:prstGeom prst="roundRect">
            <a:avLst>
              <a:gd name="adj" fmla="val 32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32804" y="3383280"/>
            <a:ext cx="457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54596" y="3310128"/>
            <a:ext cx="43754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Subagents for investigation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54596" y="3621024"/>
            <a:ext cx="4375404" cy="5760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Dirty exploration goes to a subagent (section 06); only the summary returns.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498848"/>
            <a:ext cx="5335524" cy="1078992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41247" y="4700016"/>
            <a:ext cx="457200" cy="457200"/>
          </a:xfrm>
          <a:prstGeom prst="roundRect">
            <a:avLst>
              <a:gd name="adj" fmla="val 32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7" y="4718304"/>
            <a:ext cx="457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63040" y="4645152"/>
            <a:ext cx="43754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Explore → Plan → Code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63040" y="4956048"/>
            <a:ext cx="4375404" cy="5760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Separates exploration (plan mode) from implementation; the noise doesn't move in.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31636" y="4498848"/>
            <a:ext cx="5335524" cy="1078992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432804" y="4700016"/>
            <a:ext cx="457200" cy="457200"/>
          </a:xfrm>
          <a:prstGeom prst="roundRect">
            <a:avLst>
              <a:gd name="adj" fmla="val 32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32804" y="4718304"/>
            <a:ext cx="457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54596" y="4645152"/>
            <a:ext cx="43754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Targeted reads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54596" y="4956048"/>
            <a:ext cx="4375404" cy="5760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“read config/auth.js” &gt; “understand the auth”. Preview: CodeGraph-first (Part 2).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5806440"/>
            <a:ext cx="10927080" cy="475488"/>
          </a:xfrm>
          <a:prstGeom prst="roundRect">
            <a:avLst>
              <a:gd name="adj" fmla="val 28000"/>
            </a:avLst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40080" y="5806440"/>
            <a:ext cx="82296" cy="475488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Part 2's tool precedence is, at bottom, context policy.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 1 · 03 ·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Prompt caching: don't pay for the same thing twice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Claude Code · Course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37360"/>
            <a:ext cx="10927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9AA4B2"/>
                </a:solidFill>
                <a:latin typeface="Segoe UI"/>
              </a:rPr>
              <a:t>Every turn resends ALL context. The API caches the stable prefix — strict order </a:t>
            </a:r>
            <a:r>
              <a:rPr sz="1250" b="1">
                <a:solidFill>
                  <a:srgbClr val="D97757"/>
                </a:solidFill>
                <a:latin typeface="Consolas"/>
              </a:rPr>
              <a:t>Tools → System → Messages</a:t>
            </a:r>
            <a:r>
              <a:rPr sz="1250" b="0">
                <a:solidFill>
                  <a:srgbClr val="9AA4B2"/>
                </a:solidFill>
                <a:latin typeface="Segoe UI"/>
              </a:rPr>
              <a:t>: a change invalidates its level and all after.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377440"/>
            <a:ext cx="5349240" cy="457200"/>
          </a:xfrm>
          <a:prstGeom prst="roundRect">
            <a:avLst>
              <a:gd name="adj" fmla="val 12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423160"/>
            <a:ext cx="2286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TTL 5 min (default)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423160"/>
            <a:ext cx="1554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write 1.25×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423160"/>
            <a:ext cx="10972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read 0.1×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926080"/>
            <a:ext cx="5349240" cy="457200"/>
          </a:xfrm>
          <a:prstGeom prst="roundRect">
            <a:avLst>
              <a:gd name="adj" fmla="val 12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971800"/>
            <a:ext cx="2286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TTL 1 hour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971800"/>
            <a:ext cx="1554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write 2×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2971800"/>
            <a:ext cx="10972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read 0.1×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611880"/>
            <a:ext cx="5349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E8EAED"/>
                </a:solidFill>
                <a:latin typeface="Segoe UI"/>
              </a:rPr>
              <a:t>A 50-turn session re-reads the prefix 50 times at 0.1× — </a:t>
            </a:r>
            <a:r>
              <a:rPr sz="1200" b="1">
                <a:solidFill>
                  <a:srgbClr val="8CC28C"/>
                </a:solidFill>
                <a:latin typeface="Segoe UI"/>
              </a:rPr>
              <a:t>that's the discount that makes long sessions viable.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0">
                <a:solidFill>
                  <a:srgbClr val="9AA4B2"/>
                </a:solidFill>
                <a:latin typeface="Segoe UI"/>
              </a:rPr>
              <a:t>Cacheable minimum ~1k tokens · max 4 breakpoints · diagnosis in usage.cache_read_input_tokens.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066544"/>
            <a:ext cx="5349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Stable first; the breakpoint at the end of the stable part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2377440"/>
            <a:ext cx="5349240" cy="2651760"/>
          </a:xfrm>
          <a:prstGeom prst="roundRect">
            <a:avLst>
              <a:gd name="adj" fmla="val 5000"/>
            </a:avLst>
          </a:prstGeom>
          <a:solidFill>
            <a:srgbClr val="0A0E13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3952" y="2560320"/>
            <a:ext cx="4892040" cy="2331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system=[{ "type": "text",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  "text": STABLE_INSTRUCTIONS,   # stable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  "cache_control":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    {"type": "ephemeral"} }]   # breakpoint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messages=[{"role": "user",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  "content": query }]  # variable: OUTSIDE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9AA4B2"/>
                </a:solidFill>
                <a:latin typeface="Consolas"/>
              </a:rPr>
              <a:t># classic mistake: timestamp BEFORE the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9AA4B2"/>
                </a:solidFill>
                <a:latin typeface="Consolas"/>
              </a:rPr>
              <a:t># breakpoint -&gt; 0 hits and nobody knows why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806440"/>
            <a:ext cx="10927080" cy="475488"/>
          </a:xfrm>
          <a:prstGeom prst="roundRect">
            <a:avLst>
              <a:gd name="adj" fmla="val 28000"/>
            </a:avLst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0080" y="5806440"/>
            <a:ext cx="82296" cy="475488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Runnable demo: ejemplos/prompt-caching/cache_demo.py — watch the cache counters.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 1 · 03 ·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Caching in Claude Code: you decide the hit-rate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Claude Code · Course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74519"/>
            <a:ext cx="10927080" cy="530352"/>
          </a:xfrm>
          <a:prstGeom prst="roundRect">
            <a:avLst>
              <a:gd name="adj" fmla="val 10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874519"/>
            <a:ext cx="73152" cy="530352"/>
          </a:xfrm>
          <a:prstGeom prst="roundRect">
            <a:avLst>
              <a:gd name="adj" fmla="val 50000"/>
            </a:avLst>
          </a:prstGeom>
          <a:solidFill>
            <a:srgbClr val="8CC2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20239"/>
            <a:ext cx="420624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Small, stable CLAUDE.md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1920239"/>
            <a:ext cx="62179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Short prefix that never changes → hits every turn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96312"/>
            <a:ext cx="10927080" cy="530352"/>
          </a:xfrm>
          <a:prstGeom prst="roundRect">
            <a:avLst>
              <a:gd name="adj" fmla="val 10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" y="2496312"/>
            <a:ext cx="73152" cy="530352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542032"/>
            <a:ext cx="420624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Editing CLAUDE.md/settings mid-session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2542032"/>
            <a:ext cx="62179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Change the prefix → invalidates cache from there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118104"/>
            <a:ext cx="10927080" cy="530352"/>
          </a:xfrm>
          <a:prstGeom prst="roundRect">
            <a:avLst>
              <a:gd name="adj" fmla="val 10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" y="3118104"/>
            <a:ext cx="73152" cy="530352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163824"/>
            <a:ext cx="420624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Many active MCP servers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3163824"/>
            <a:ext cx="62179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Large, changing tools block → expensive writes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739896"/>
            <a:ext cx="10927080" cy="530352"/>
          </a:xfrm>
          <a:prstGeom prst="roundRect">
            <a:avLst>
              <a:gd name="adj" fmla="val 10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0080" y="3739896"/>
            <a:ext cx="73152" cy="530352"/>
          </a:xfrm>
          <a:prstGeom prst="roundRect">
            <a:avLst>
              <a:gd name="adj" fmla="val 50000"/>
            </a:avLst>
          </a:prstGeom>
          <a:solidFill>
            <a:srgbClr val="8CC2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3785615"/>
            <a:ext cx="420624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Long session, frequent turns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0" y="3785615"/>
            <a:ext cx="62179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History is re-read at 0.1× — the ideal case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361688"/>
            <a:ext cx="10927080" cy="530352"/>
          </a:xfrm>
          <a:prstGeom prst="roundRect">
            <a:avLst>
              <a:gd name="adj" fmla="val 10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0080" y="4361688"/>
            <a:ext cx="73152" cy="530352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407407"/>
            <a:ext cx="420624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/compact or auto-compact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2080" y="4407407"/>
            <a:ext cx="62179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Rewrites history → breaks the message cache once, then continues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120640"/>
            <a:ext cx="10927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9AA4B2"/>
                </a:solidFill>
                <a:latin typeface="Segoe UI"/>
              </a:rPr>
              <a:t>Claude Code doesn't expose cache_control: it applies it for you (system + tools + history = prefix). Your decisions on the previous slide set the hit-rate.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5806440"/>
            <a:ext cx="10927080" cy="475488"/>
          </a:xfrm>
          <a:prstGeom prst="roundRect">
            <a:avLst>
              <a:gd name="adj" fmla="val 28000"/>
            </a:avLst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40080" y="5806440"/>
            <a:ext cx="82296" cy="475488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Lean, stable context performs better AND costs less: two tiers optimize both axes at once.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 1 · 04 · MCP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Model Context Protocol: connect your world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Claude Code · Course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37360"/>
            <a:ext cx="10927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9AA4B2"/>
                </a:solidFill>
                <a:latin typeface="Segoe UI"/>
              </a:rPr>
              <a:t>Open standard to plug Claude into external data and tools. Tools appear as </a:t>
            </a:r>
            <a:r>
              <a:rPr sz="1250" b="1">
                <a:solidFill>
                  <a:srgbClr val="D97757"/>
                </a:solidFill>
                <a:latin typeface="Consolas"/>
              </a:rPr>
              <a:t>mcp__&lt;server&gt;__&lt;tool&gt;</a:t>
            </a:r>
            <a:r>
              <a:rPr sz="1250" b="0">
                <a:solidFill>
                  <a:srgbClr val="9AA4B2"/>
                </a:solidFill>
                <a:latin typeface="Segoe UI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331720"/>
            <a:ext cx="5335524" cy="914400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41247" y="2532888"/>
            <a:ext cx="457200" cy="457200"/>
          </a:xfrm>
          <a:prstGeom prst="roundRect">
            <a:avLst>
              <a:gd name="adj" fmla="val 32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2551176"/>
            <a:ext cx="457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478024"/>
            <a:ext cx="43754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Local 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788920"/>
            <a:ext cx="4375404" cy="4114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.claude/settings.local.json — only you, this machine.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1636" y="2331720"/>
            <a:ext cx="5335524" cy="914400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32804" y="2532888"/>
            <a:ext cx="457200" cy="457200"/>
          </a:xfrm>
          <a:prstGeom prst="roundRect">
            <a:avLst>
              <a:gd name="adj" fmla="val 32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32804" y="2551176"/>
            <a:ext cx="457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54596" y="2478024"/>
            <a:ext cx="43754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Project scope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54596" y="2788920"/>
            <a:ext cx="4375404" cy="4114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.mcp.json at the root, versioned, shared with the team.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502152"/>
            <a:ext cx="5335524" cy="914400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41247" y="3703320"/>
            <a:ext cx="457200" cy="457200"/>
          </a:xfrm>
          <a:prstGeom prst="roundRect">
            <a:avLst>
              <a:gd name="adj" fmla="val 32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7" y="3721608"/>
            <a:ext cx="457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3648456"/>
            <a:ext cx="43754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User scope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3959352"/>
            <a:ext cx="4375404" cy="4114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~/.claude.json — all your projects.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1636" y="3502152"/>
            <a:ext cx="5335524" cy="914400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32804" y="3703320"/>
            <a:ext cx="457200" cy="457200"/>
          </a:xfrm>
          <a:prstGeom prst="roundRect">
            <a:avLst>
              <a:gd name="adj" fmla="val 32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32804" y="3721608"/>
            <a:ext cx="457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54596" y="3648456"/>
            <a:ext cx="43754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Servers I use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54596" y="3959352"/>
            <a:ext cx="4375404" cy="4114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serena · context7 · playwright · codegraph · supabase.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4215384"/>
            <a:ext cx="10927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Add a server (secrets via env var; each server adds context — section 03)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4526280"/>
            <a:ext cx="10927080" cy="1051560"/>
          </a:xfrm>
          <a:prstGeom prst="roundRect">
            <a:avLst>
              <a:gd name="adj" fmla="val 5000"/>
            </a:avLst>
          </a:prstGeom>
          <a:solidFill>
            <a:srgbClr val="0A0E13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6112" y="4709160"/>
            <a:ext cx="10469880" cy="731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claude mcp add --transport http context7 https://mcp.context7.com/mcp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claude mcp list      # status      /mcp   # OAuth auth and tools in-session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 1 · 05 · PLUGINS, TOOLS AND SKILLS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Four layers of extensibility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Claude Code · Course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74519"/>
            <a:ext cx="5335524" cy="1051560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41247" y="2075688"/>
            <a:ext cx="457200" cy="457200"/>
          </a:xfrm>
          <a:prstGeom prst="roundRect">
            <a:avLst>
              <a:gd name="adj" fmla="val 32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093976"/>
            <a:ext cx="457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020824"/>
            <a:ext cx="43754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Tools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331720"/>
            <a:ext cx="4375404" cy="5486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What Claude can do: Read/Edit/Bash/Grep/Task + mcp__*. Governed by permissions.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1636" y="1874519"/>
            <a:ext cx="5335524" cy="1051560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32804" y="2075688"/>
            <a:ext cx="457200" cy="457200"/>
          </a:xfrm>
          <a:prstGeom prst="roundRect">
            <a:avLst>
              <a:gd name="adj" fmla="val 32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2804" y="2093976"/>
            <a:ext cx="457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54596" y="2020824"/>
            <a:ext cx="43754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Slash commands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54596" y="2331720"/>
            <a:ext cx="4375404" cy="5486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.claude/commands/x.md = /x. The body is the prompt. You invoke it.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182111"/>
            <a:ext cx="5335524" cy="1051560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1247" y="3383279"/>
            <a:ext cx="457200" cy="457200"/>
          </a:xfrm>
          <a:prstGeom prst="roundRect">
            <a:avLst>
              <a:gd name="adj" fmla="val 32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3401568"/>
            <a:ext cx="457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3328415"/>
            <a:ext cx="43754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Skills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3639311"/>
            <a:ext cx="4375404" cy="5486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.claude/skills/x/SKILL.md with description. Claude auto-selects it; carries scripts/templates.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31636" y="3182111"/>
            <a:ext cx="5335524" cy="1051560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32804" y="3383279"/>
            <a:ext cx="457200" cy="457200"/>
          </a:xfrm>
          <a:prstGeom prst="roundRect">
            <a:avLst>
              <a:gd name="adj" fmla="val 32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32804" y="3401568"/>
            <a:ext cx="457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54596" y="3328415"/>
            <a:ext cx="43754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Plugins + marketplace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54596" y="3639311"/>
            <a:ext cx="4375404" cy="5486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Bundle skills+commands+agents+MCP+hooks. /plugin install. GSD is one.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4343400"/>
            <a:ext cx="10927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7AA2C7"/>
                </a:solidFill>
                <a:latin typeface="Segoe UI"/>
              </a:rPr>
              <a:t>The 5th layer — subagents and agent teams — deserves its own section: it's next.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5806440"/>
            <a:ext cx="10927080" cy="475488"/>
          </a:xfrm>
          <a:prstGeom prst="roundRect">
            <a:avLst>
              <a:gd name="adj" fmla="val 28000"/>
            </a:avLst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40080" y="5806440"/>
            <a:ext cx="82296" cy="475488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Slash command = shortcut you invoke. Skill = capability Claude decides to use. Plugin = the distribution.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 1 · 06 · SUBAGENTS AND AGENT TEAMS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Subagents: noise dies outside your session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Claude Code · Course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28800"/>
            <a:ext cx="5349240" cy="201168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029968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7AA2C7"/>
                </a:solidFill>
                <a:latin typeface="Segoe UI"/>
              </a:rPr>
              <a:t>Built-ins (Task tool)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87168"/>
            <a:ext cx="48463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Explore — read-only search across the codebase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Plan — design the strategy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general-purpose — multi-step, all tools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In parallel for independent 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837944"/>
            <a:ext cx="5349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Custom: a .md with frontmatter (/agents lists them)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148840"/>
            <a:ext cx="5349240" cy="2377440"/>
          </a:xfrm>
          <a:prstGeom prst="roundRect">
            <a:avLst>
              <a:gd name="adj" fmla="val 5000"/>
            </a:avLst>
          </a:prstGeom>
          <a:solidFill>
            <a:srgbClr val="0A0E13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2331720"/>
            <a:ext cx="4892040" cy="205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9AA4B2"/>
                </a:solidFill>
                <a:latin typeface="Consolas"/>
              </a:rPr>
              <a:t># .claude/agents/security-reviewer.md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---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name: security-reviewer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description: Reviews vulnerabilities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  after changes to auth or deps.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tools: Read, Grep, Glob, Bash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model: opus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---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You are a senior security engineer…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977639"/>
            <a:ext cx="5349240" cy="155448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178807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Segoe UI"/>
              </a:rPr>
              <a:t>What you need to know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636007"/>
            <a:ext cx="4846320" cy="731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ISOLATED context: only the summary returns to your session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Does NOT inherit your conversation: context in the prompt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description = auto-selection · tools = own allowlist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806440"/>
            <a:ext cx="10927080" cy="475488"/>
          </a:xfrm>
          <a:prstGeom prst="roundRect">
            <a:avLst>
              <a:gd name="adj" fmla="val 28000"/>
            </a:avLst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" y="5806440"/>
            <a:ext cx="82296" cy="475488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Real examples in ejemplos/subagents/: security-reviewer and refactor-scout (CodeGraph→Serena rule).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 1 · 06 · SUBAGENTS AND AGENT TEAMS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Agent Teams: several Claudes coordinating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Claude Code · Course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28800"/>
            <a:ext cx="5349240" cy="237744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029968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Segoe UI"/>
              </a:rPr>
              <a:t>The architecture (experimental)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87168"/>
            <a:ext cx="48463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Lead + teammates: each one a full SESSION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Shared task list: ~/.claude/tasks/&lt;team&gt;/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Direct messaging between teammates (inboxes)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They can debate findings, not just report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Roles = your custom subagents reused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837944"/>
            <a:ext cx="5349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Enable (off by default)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148840"/>
            <a:ext cx="5349240" cy="1463040"/>
          </a:xfrm>
          <a:prstGeom prst="roundRect">
            <a:avLst>
              <a:gd name="adj" fmla="val 5000"/>
            </a:avLst>
          </a:prstGeom>
          <a:solidFill>
            <a:srgbClr val="0A0E13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2331720"/>
            <a:ext cx="489204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// ~/.claude/settings.json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{ "env": { "CLAUDE_CODE_EXPERIMENTAL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_AGENT_TEAMS": "1" },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  "teammateMode": "in-process" }  // tmux|iterm2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886200"/>
            <a:ext cx="5349240" cy="164592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4087368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7AA2C7"/>
                </a:solidFill>
                <a:latin typeface="Segoe UI"/>
              </a:rPr>
              <a:t>Limits today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544568"/>
            <a:ext cx="4846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No in-process /resume · one team per session · no nesting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Split-panes require tmux or iTerm2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Cost: each teammate is a full session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343400"/>
            <a:ext cx="5349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9AA4B2"/>
                </a:solidFill>
                <a:latin typeface="Segoe UI"/>
              </a:rPr>
              <a:t>You ask in natural language: </a:t>
            </a:r>
            <a:r>
              <a:rPr sz="1150" b="0">
                <a:solidFill>
                  <a:srgbClr val="E8EAED"/>
                </a:solidFill>
                <a:latin typeface="Segoe UI"/>
              </a:rPr>
              <a:t>“set up a team with one architect and two implementers; require plan approval before touching code”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806440"/>
            <a:ext cx="10927080" cy="475488"/>
          </a:xfrm>
          <a:prstGeom prst="roundRect">
            <a:avLst>
              <a:gd name="adj" fmla="val 28000"/>
            </a:avLst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" y="5806440"/>
            <a:ext cx="82296" cy="475488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Partition the files: each teammate owns theirs.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 1 · 06 · SUBAGENTS AND AGENT TEAMS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Subagent or team? The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Claude Code · Course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182880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AA2C7"/>
                </a:solidFill>
                <a:latin typeface="Segoe UI"/>
              </a:rPr>
              <a:t>SUBAGENT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182880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AGENT TEAM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240280"/>
            <a:ext cx="10927080" cy="475488"/>
          </a:xfrm>
          <a:prstGeom prst="roundRect">
            <a:avLst>
              <a:gd name="adj" fmla="val 10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286000"/>
            <a:ext cx="30175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E8EAED"/>
                </a:solidFill>
                <a:latin typeface="Segoe UI"/>
              </a:rPr>
              <a:t>Context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2286000"/>
            <a:ext cx="33832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Isolated; returns a summary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2286000"/>
            <a:ext cx="33832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Each teammate = full session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807208"/>
            <a:ext cx="10927080" cy="475488"/>
          </a:xfrm>
          <a:prstGeom prst="roundRect">
            <a:avLst>
              <a:gd name="adj" fmla="val 10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2852928"/>
            <a:ext cx="30175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E8EAED"/>
                </a:solidFill>
                <a:latin typeface="Segoe UI"/>
              </a:rPr>
              <a:t>Communication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2852928"/>
            <a:ext cx="33832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Result only → main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2852928"/>
            <a:ext cx="33832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Task list + messages between teammates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374136"/>
            <a:ext cx="10927080" cy="475488"/>
          </a:xfrm>
          <a:prstGeom prst="roundRect">
            <a:avLst>
              <a:gd name="adj" fmla="val 10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419856"/>
            <a:ext cx="30175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E8EAED"/>
                </a:solidFill>
                <a:latin typeface="Segoe UI"/>
              </a:rPr>
              <a:t>Cost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3419856"/>
            <a:ext cx="33832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Low (costly work dies outside)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3419856"/>
            <a:ext cx="33832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High (N sessions in parallel)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941064"/>
            <a:ext cx="10927080" cy="475488"/>
          </a:xfrm>
          <a:prstGeom prst="roundRect">
            <a:avLst>
              <a:gd name="adj" fmla="val 10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3986784"/>
            <a:ext cx="30175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E8EAED"/>
                </a:solidFill>
                <a:latin typeface="Segoe UI"/>
              </a:rPr>
              <a:t>Use it for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40" y="3986784"/>
            <a:ext cx="33832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Side-quests: investigate, verify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3986784"/>
            <a:ext cx="33832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Real parallelism: multi-layer review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4507992"/>
            <a:ext cx="10927080" cy="475488"/>
          </a:xfrm>
          <a:prstGeom prst="roundRect">
            <a:avLst>
              <a:gd name="adj" fmla="val 10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4553712"/>
            <a:ext cx="30175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E8EAED"/>
                </a:solidFill>
                <a:latin typeface="Segoe UI"/>
              </a:rPr>
              <a:t>Config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06240" y="4553712"/>
            <a:ext cx="33832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Nothing, or .claude/agents/*.md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4553712"/>
            <a:ext cx="33832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Experimental env var + settings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193792"/>
            <a:ext cx="10927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Bridge to Part 2: </a:t>
            </a:r>
            <a:r>
              <a:rPr sz="1150" b="0">
                <a:solidFill>
                  <a:srgbClr val="9AA4B2"/>
                </a:solidFill>
                <a:latin typeface="Segoe UI"/>
              </a:rPr>
              <a:t>GSD packages exactly this — gsd-planner, gsd-executor, gsd-verifier are custom subagents as a plugin (this project uses the data/changes/ flow, not GSD — see Part 2).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5806440"/>
            <a:ext cx="10927080" cy="475488"/>
          </a:xfrm>
          <a:prstGeom prst="roundRect">
            <a:avLst>
              <a:gd name="adj" fmla="val 28000"/>
            </a:avLst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40080" y="5806440"/>
            <a:ext cx="82296" cy="475488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Subagent so noise dies outside; team so several Claudes can debate. The cost is not the same.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 1 · 07 ·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Hooks: deterministic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Claude Code · Course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28800"/>
            <a:ext cx="5349240" cy="283464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029968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Segoe UI"/>
              </a:rPr>
              <a:t>A hook's contract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87168"/>
            <a:ext cx="48463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Event payload via STDIN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Events: PreToolUse, PostToolUse, SessionStart, Stop…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Matcher = regex on the tool name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exit 0 allows · exit 2 BLOCKS (stderr → Claude)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Pre = intent (tool_input) · Post = result (tool_response)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837944"/>
            <a:ext cx="5349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Blocking pattern (JS)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148840"/>
            <a:ext cx="5349240" cy="2194560"/>
          </a:xfrm>
          <a:prstGeom prst="roundRect">
            <a:avLst>
              <a:gd name="adj" fmla="val 5000"/>
            </a:avLst>
          </a:prstGeom>
          <a:solidFill>
            <a:srgbClr val="0A0E13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2331720"/>
            <a:ext cx="4892040" cy="1874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if (payload.tool_input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     ?.file_path?.includes(".env")) {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  console.error("Blocked: don't read .env");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  process.exit(2);   // &lt;-- veto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}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process.exit(0);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806440"/>
            <a:ext cx="10927080" cy="475488"/>
          </a:xfrm>
          <a:prstGeom prst="roundRect">
            <a:avLst>
              <a:gd name="adj" fmla="val 28000"/>
            </a:avLst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" y="5806440"/>
            <a:ext cx="82296" cy="475488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With instructions you ask for good behavior; with a hook you guarantee it.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 1 · 07 ·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From hooks to scheduled agents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Claude Code · Course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74519"/>
            <a:ext cx="5335524" cy="960120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41247" y="2075688"/>
            <a:ext cx="457200" cy="457200"/>
          </a:xfrm>
          <a:prstGeom prst="roundRect">
            <a:avLst>
              <a:gd name="adj" fmla="val 32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093976"/>
            <a:ext cx="457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020824"/>
            <a:ext cx="43754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Hooks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331720"/>
            <a:ext cx="437540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Security (.env), formatting (prettier), blocking type-check, 'AI reviewing AI' via SDK.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1636" y="1874519"/>
            <a:ext cx="5335524" cy="960120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32804" y="2075688"/>
            <a:ext cx="457200" cy="457200"/>
          </a:xfrm>
          <a:prstGeom prst="roundRect">
            <a:avLst>
              <a:gd name="adj" fmla="val 32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2804" y="2093976"/>
            <a:ext cx="457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54596" y="2020824"/>
            <a:ext cx="43754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Headless / piping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54596" y="2331720"/>
            <a:ext cx="437540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claude -p in any Unix pipe or script.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090672"/>
            <a:ext cx="5335524" cy="960120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1247" y="3291840"/>
            <a:ext cx="457200" cy="457200"/>
          </a:xfrm>
          <a:prstGeom prst="roundRect">
            <a:avLst>
              <a:gd name="adj" fmla="val 32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3310128"/>
            <a:ext cx="457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3236976"/>
            <a:ext cx="43754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CI/CD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3547872"/>
            <a:ext cx="437540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GitHub Actions · GitLab · GitHub Code Review on every PR.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31636" y="3090672"/>
            <a:ext cx="5335524" cy="960120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32804" y="3291840"/>
            <a:ext cx="457200" cy="457200"/>
          </a:xfrm>
          <a:prstGeom prst="roundRect">
            <a:avLst>
              <a:gd name="adj" fmla="val 32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32804" y="3310128"/>
            <a:ext cx="457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54596" y="3236976"/>
            <a:ext cx="43754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Scheduling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54596" y="3547872"/>
            <a:ext cx="437540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Routines (/schedule, Anthropic infra) · Desktop tasks · /loop.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3803904"/>
            <a:ext cx="10927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Agent SDK — custom workflows (least privilege)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4114800"/>
            <a:ext cx="10927080" cy="1143000"/>
          </a:xfrm>
          <a:prstGeom prst="roundRect">
            <a:avLst>
              <a:gd name="adj" fmla="val 5000"/>
            </a:avLst>
          </a:prstGeom>
          <a:solidFill>
            <a:srgbClr val="0A0E13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4297680"/>
            <a:ext cx="104698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import { query } from "@anthropic-ai/claude-agent-sdk";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for await (const m of query({ prompt, options: { allowedTools: ["Edit"] } }))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  if (m.type === "result") console.log(m.result);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Segoe UI"/>
              </a:rPr>
              <a:t>PART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400" b="1">
                <a:solidFill>
                  <a:srgbClr val="E8EAED"/>
                </a:solidFill>
                <a:latin typeface="Segoe UI"/>
              </a:rPr>
              <a:t>The methodology</a:t>
            </a:r>
          </a:p>
        </p:txBody>
      </p:sp>
      <p:sp>
        <p:nvSpPr>
          <p:cNvPr id="7" name="Rectangle 6"/>
          <p:cNvSpPr/>
          <p:nvPr/>
        </p:nvSpPr>
        <p:spPr>
          <a:xfrm>
            <a:off x="932688" y="2606040"/>
            <a:ext cx="1280160" cy="457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88920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9AA4B2"/>
                </a:solidFill>
                <a:latin typeface="Segoe UI"/>
              </a:rPr>
              <a:t>Tool-agnostic: demonstrated with Claude Code, but the discipline travels.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520440"/>
            <a:ext cx="5212080" cy="475488"/>
          </a:xfrm>
          <a:prstGeom prst="roundRect">
            <a:avLst>
              <a:gd name="adj" fmla="val 1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566160"/>
            <a:ext cx="48463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EAED"/>
                </a:solidFill>
                <a:latin typeface="Segoe UI"/>
              </a:rPr>
              <a:t>08 · The 11-stage workflow + real example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3520440"/>
            <a:ext cx="5212080" cy="475488"/>
          </a:xfrm>
          <a:prstGeom prst="roundRect">
            <a:avLst>
              <a:gd name="adj" fmla="val 1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3566160"/>
            <a:ext cx="48463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EAED"/>
                </a:solidFill>
                <a:latin typeface="Segoe UI"/>
              </a:rPr>
              <a:t>09 · The method's tools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087368"/>
            <a:ext cx="5212080" cy="475488"/>
          </a:xfrm>
          <a:prstGeom prst="roundRect">
            <a:avLst>
              <a:gd name="adj" fmla="val 1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4133087"/>
            <a:ext cx="48463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EAED"/>
                </a:solidFill>
                <a:latin typeface="Segoe UI"/>
              </a:rPr>
              <a:t>10 · Transfer to another agent (Copilot)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4087368"/>
            <a:ext cx="5212080" cy="475488"/>
          </a:xfrm>
          <a:prstGeom prst="roundRect">
            <a:avLst>
              <a:gd name="adj" fmla="val 1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4133087"/>
            <a:ext cx="48463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EAED"/>
                </a:solidFill>
                <a:latin typeface="Segoe UI"/>
              </a:rPr>
              <a:t>11 · Machine sync: transport and sharing (S3)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 2 · 08 · THE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The agent is a disciplined collaborator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Claude Code · Course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21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28800"/>
            <a:ext cx="10927080" cy="1051560"/>
          </a:xfrm>
          <a:prstGeom prst="roundRect">
            <a:avLst>
              <a:gd name="adj" fmla="val 6000"/>
            </a:avLst>
          </a:prstGeom>
          <a:solidFill>
            <a:srgbClr val="222B38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93392"/>
            <a:ext cx="104241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E8EAED"/>
                </a:solidFill>
                <a:latin typeface="Segoe UI"/>
              </a:rPr>
              <a:t>“Autonomy is earned per-decision, not granted wholesale.”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108960"/>
            <a:ext cx="5349240" cy="1874519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310128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7AA2C7"/>
                </a:solidFill>
                <a:latin typeface="Segoe UI"/>
              </a:rPr>
              <a:t>The agent owns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67328"/>
            <a:ext cx="484632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Investigation and diagnosis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Plans and implementation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Tests and documentation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108960"/>
            <a:ext cx="5349240" cy="1874519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3310128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8CC28C"/>
                </a:solidFill>
                <a:latin typeface="Segoe UI"/>
              </a:rPr>
              <a:t>The human owns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767328"/>
            <a:ext cx="484632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Go/no-go decisions and scope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Every external action: push, PR, deploy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Plan approval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13892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Agnostic:  </a:t>
            </a:r>
            <a:r>
              <a:rPr sz="1100" b="0">
                <a:solidFill>
                  <a:srgbClr val="9AA4B2"/>
                </a:solidFill>
                <a:latin typeface="Segoe UI"/>
              </a:rPr>
              <a:t>not a Claude Code workflow — a way of working with ANY agent. Section 10 proves it by transferring it to GitHub Copilot.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806440"/>
            <a:ext cx="10927080" cy="475488"/>
          </a:xfrm>
          <a:prstGeom prst="roundRect">
            <a:avLst>
              <a:gd name="adj" fmla="val 28000"/>
            </a:avLst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" y="5806440"/>
            <a:ext cx="82296" cy="475488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The model doesn't earn trust for free: it earns it decision by decision, with evidence.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 2 · 08 · THE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The real 11-stage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Claude Code · Course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74519"/>
            <a:ext cx="5349240" cy="512064"/>
          </a:xfrm>
          <a:prstGeom prst="roundRect">
            <a:avLst>
              <a:gd name="adj" fmla="val 14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68096" y="1975103"/>
            <a:ext cx="310896" cy="310896"/>
          </a:xfrm>
          <a:prstGeom prst="roundRect">
            <a:avLst>
              <a:gd name="adj" fmla="val 40000"/>
            </a:avLst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1975103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E8EAED"/>
                </a:solidFill>
                <a:latin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929384"/>
            <a:ext cx="46634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Orient: /kg + history-first + status-first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78024"/>
            <a:ext cx="5349240" cy="512064"/>
          </a:xfrm>
          <a:prstGeom prst="roundRect">
            <a:avLst>
              <a:gd name="adj" fmla="val 14000"/>
            </a:avLst>
          </a:prstGeom>
          <a:solidFill>
            <a:srgbClr val="1A212B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8096" y="2578608"/>
            <a:ext cx="310896" cy="310896"/>
          </a:xfrm>
          <a:prstGeom prst="roundRect">
            <a:avLst>
              <a:gd name="adj" fmla="val 4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" y="257860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0F141A"/>
                </a:solidFill>
                <a:latin typeface="Segoe U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7" y="2532888"/>
            <a:ext cx="46634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Inbound triage: symptom in the contract?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081528"/>
            <a:ext cx="5349240" cy="512064"/>
          </a:xfrm>
          <a:prstGeom prst="roundRect">
            <a:avLst>
              <a:gd name="adj" fmla="val 14000"/>
            </a:avLst>
          </a:prstGeom>
          <a:solidFill>
            <a:srgbClr val="1A212B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68096" y="3182112"/>
            <a:ext cx="310896" cy="310896"/>
          </a:xfrm>
          <a:prstGeom prst="roundRect">
            <a:avLst>
              <a:gd name="adj" fmla="val 4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318211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0F141A"/>
                </a:solidFill>
                <a:latin typeface="Segoe U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136392"/>
            <a:ext cx="46634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Regression vs. pre-existing (prove it)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685031"/>
            <a:ext cx="5349240" cy="512064"/>
          </a:xfrm>
          <a:prstGeom prst="roundRect">
            <a:avLst>
              <a:gd name="adj" fmla="val 14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68096" y="3785615"/>
            <a:ext cx="310896" cy="310896"/>
          </a:xfrm>
          <a:prstGeom prst="roundRect">
            <a:avLst>
              <a:gd name="adj" fmla="val 40000"/>
            </a:avLst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3785615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E8EAED"/>
                </a:solidFill>
                <a:latin typeface="Segoe U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07007" y="3739895"/>
            <a:ext cx="46634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Investigate: cheap deterministic oracle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288536"/>
            <a:ext cx="5349240" cy="512064"/>
          </a:xfrm>
          <a:prstGeom prst="roundRect">
            <a:avLst>
              <a:gd name="adj" fmla="val 14000"/>
            </a:avLst>
          </a:prstGeom>
          <a:solidFill>
            <a:srgbClr val="1A212B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68096" y="4389120"/>
            <a:ext cx="310896" cy="310896"/>
          </a:xfrm>
          <a:prstGeom prst="roundRect">
            <a:avLst>
              <a:gd name="adj" fmla="val 4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6" y="438912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0F141A"/>
                </a:solidFill>
                <a:latin typeface="Segoe U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07007" y="4343399"/>
            <a:ext cx="46634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Plan → explicit human agreement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892040"/>
            <a:ext cx="5349240" cy="512064"/>
          </a:xfrm>
          <a:prstGeom prst="roundRect">
            <a:avLst>
              <a:gd name="adj" fmla="val 14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68096" y="4992624"/>
            <a:ext cx="310896" cy="310896"/>
          </a:xfrm>
          <a:prstGeom prst="roundRect">
            <a:avLst>
              <a:gd name="adj" fmla="val 40000"/>
            </a:avLst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8096" y="49926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E8EAED"/>
                </a:solidFill>
                <a:latin typeface="Segoe UI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07007" y="4946903"/>
            <a:ext cx="46634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Implement: TDD RED → GREEN, minimal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63640" y="1874519"/>
            <a:ext cx="5349240" cy="512064"/>
          </a:xfrm>
          <a:prstGeom prst="roundRect">
            <a:avLst>
              <a:gd name="adj" fmla="val 14000"/>
            </a:avLst>
          </a:prstGeom>
          <a:solidFill>
            <a:srgbClr val="1A212B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391656" y="1975103"/>
            <a:ext cx="310896" cy="310896"/>
          </a:xfrm>
          <a:prstGeom prst="roundRect">
            <a:avLst>
              <a:gd name="adj" fmla="val 4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91656" y="1975103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0F141A"/>
                </a:solidFill>
                <a:latin typeface="Segoe UI"/>
              </a:rPr>
              <a:t>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30568" y="1929384"/>
            <a:ext cx="46634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Verify: 5 checks (instrument → contract → image)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63640" y="2478024"/>
            <a:ext cx="5349240" cy="512064"/>
          </a:xfrm>
          <a:prstGeom prst="roundRect">
            <a:avLst>
              <a:gd name="adj" fmla="val 14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391656" y="2578608"/>
            <a:ext cx="310896" cy="310896"/>
          </a:xfrm>
          <a:prstGeom prst="roundRect">
            <a:avLst>
              <a:gd name="adj" fmla="val 40000"/>
            </a:avLst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91656" y="257860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E8EAED"/>
                </a:solidFill>
                <a:latin typeface="Segoe UI"/>
              </a:rPr>
              <a:t>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30568" y="2532888"/>
            <a:ext cx="46634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Document — each thing once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63640" y="3081528"/>
            <a:ext cx="5349240" cy="512064"/>
          </a:xfrm>
          <a:prstGeom prst="roundRect">
            <a:avLst>
              <a:gd name="adj" fmla="val 14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391656" y="3182112"/>
            <a:ext cx="310896" cy="310896"/>
          </a:xfrm>
          <a:prstGeom prst="roundRect">
            <a:avLst>
              <a:gd name="adj" fmla="val 40000"/>
            </a:avLst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91656" y="318211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E8EAED"/>
                </a:solidFill>
                <a:latin typeface="Segoe UI"/>
              </a:rPr>
              <a:t>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30568" y="3136392"/>
            <a:ext cx="46634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Sanitize — added lines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63640" y="3685031"/>
            <a:ext cx="5349240" cy="512064"/>
          </a:xfrm>
          <a:prstGeom prst="roundRect">
            <a:avLst>
              <a:gd name="adj" fmla="val 14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391656" y="3785615"/>
            <a:ext cx="310896" cy="310896"/>
          </a:xfrm>
          <a:prstGeom prst="roundRect">
            <a:avLst>
              <a:gd name="adj" fmla="val 40000"/>
            </a:avLst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91656" y="3785615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E8EAED"/>
                </a:solidFill>
                <a:latin typeface="Segoe UI"/>
              </a:rPr>
              <a:t>10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30568" y="3739895"/>
            <a:ext cx="46634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Handoff: the human does push / PR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63640" y="4288536"/>
            <a:ext cx="5349240" cy="512064"/>
          </a:xfrm>
          <a:prstGeom prst="roundRect">
            <a:avLst>
              <a:gd name="adj" fmla="val 14000"/>
            </a:avLst>
          </a:prstGeom>
          <a:solidFill>
            <a:srgbClr val="1A212B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6391656" y="4389120"/>
            <a:ext cx="310896" cy="310896"/>
          </a:xfrm>
          <a:prstGeom prst="roundRect">
            <a:avLst>
              <a:gd name="adj" fmla="val 4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91656" y="438912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0F141A"/>
                </a:solidFill>
                <a:latin typeface="Segoe UI"/>
              </a:rPr>
              <a:t>11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30568" y="4343399"/>
            <a:ext cx="46634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Bot review + persist lessons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" y="5477256"/>
            <a:ext cx="109270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D97757"/>
                </a:solidFill>
                <a:latin typeface="Segoe UI"/>
              </a:rPr>
              <a:t>■ </a:t>
            </a:r>
            <a:r>
              <a:rPr sz="1050" b="0">
                <a:solidFill>
                  <a:srgbClr val="9AA4B2"/>
                </a:solidFill>
                <a:latin typeface="Segoe UI"/>
              </a:rPr>
              <a:t>Coral = GATE (STOP: don't write code).   </a:t>
            </a:r>
            <a:r>
              <a:rPr sz="1050" b="1">
                <a:solidFill>
                  <a:srgbClr val="E8EAED"/>
                </a:solidFill>
                <a:latin typeface="Segoe UI"/>
              </a:rPr>
              <a:t>Stage 7, the 5 checks: </a:t>
            </a:r>
            <a:r>
              <a:rPr sz="1050" b="0">
                <a:solidFill>
                  <a:srgbClr val="9AA4B2"/>
                </a:solidFill>
                <a:latin typeface="Segoe UI"/>
              </a:rPr>
              <a:t>instrument · contract (wrapper) · members, not totals · image · look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40080" y="5806440"/>
            <a:ext cx="10927080" cy="475488"/>
          </a:xfrm>
          <a:prstGeom prst="roundRect">
            <a:avLst>
              <a:gd name="adj" fmla="val 28000"/>
            </a:avLst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640080" y="5806440"/>
            <a:ext cx="82296" cy="475488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The agent orchestrates and hosts the inference; cost concentrates in plan/code/verify, not in searching.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 2 · 08 · THE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A real example, end to 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Claude Code · Course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23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927080" cy="566928"/>
          </a:xfrm>
          <a:prstGeom prst="roundRect">
            <a:avLst>
              <a:gd name="adj" fmla="val 10000"/>
            </a:avLst>
          </a:prstGeom>
          <a:solidFill>
            <a:srgbClr val="222B38"/>
          </a:solidFill>
          <a:ln w="952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105156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Segoe UI"/>
              </a:rPr>
              <a:t>QA bug: </a:t>
            </a:r>
            <a:r>
              <a:rPr sz="1250" b="0">
                <a:solidFill>
                  <a:srgbClr val="E8EAED"/>
                </a:solidFill>
                <a:latin typeface="Segoe UI"/>
              </a:rPr>
              <a:t>“a field shows empty in the UI, but it's written in the PDF.”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542032"/>
            <a:ext cx="10927080" cy="438912"/>
          </a:xfrm>
          <a:prstGeom prst="roundRect">
            <a:avLst>
              <a:gd name="adj" fmla="val 12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2542032"/>
            <a:ext cx="73152" cy="438912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578608"/>
            <a:ext cx="21945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Orient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578608"/>
            <a:ext cx="8229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8EAED"/>
                </a:solidFill>
                <a:latin typeface="Segoe UI"/>
              </a:rPr>
              <a:t>/kg surfaces the danger zone (a SHARP_EDGE constraining the fix); git/gh give the baseline.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054096"/>
            <a:ext cx="10927080" cy="438912"/>
          </a:xfrm>
          <a:prstGeom prst="roundRect">
            <a:avLst>
              <a:gd name="adj" fmla="val 12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" y="3054096"/>
            <a:ext cx="73152" cy="438912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090672"/>
            <a:ext cx="21945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Contract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3090672"/>
            <a:ext cx="8229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8EAED"/>
                </a:solidFill>
                <a:latin typeface="Segoe UI"/>
              </a:rPr>
              <a:t>The field is empty in the endpoint JSON (Playwright/F12) → the Lambda is responsible.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566160"/>
            <a:ext cx="10927080" cy="438912"/>
          </a:xfrm>
          <a:prstGeom prst="roundRect">
            <a:avLst>
              <a:gd name="adj" fmla="val 12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" y="3566160"/>
            <a:ext cx="73152" cy="438912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602736"/>
            <a:ext cx="21945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Provenance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3602736"/>
            <a:ext cx="8229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8EAED"/>
                </a:solidFill>
                <a:latin typeface="Segoe UI"/>
              </a:rPr>
              <a:t>Re-extract on the previous base: already empty → pre-existing, not a regression.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078224"/>
            <a:ext cx="10927080" cy="438912"/>
          </a:xfrm>
          <a:prstGeom prst="roundRect">
            <a:avLst>
              <a:gd name="adj" fmla="val 12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0080" y="4078224"/>
            <a:ext cx="73152" cy="438912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4114800"/>
            <a:ext cx="21945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Investigate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4114800"/>
            <a:ext cx="8229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8EAED"/>
                </a:solidFill>
                <a:latin typeface="Segoe UI"/>
              </a:rPr>
              <a:t>Serena + CodeGraph locate the detector; a deterministic _diag_pdf.py gives the cause: NO LLM.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4590288"/>
            <a:ext cx="10927080" cy="438912"/>
          </a:xfrm>
          <a:prstGeom prst="roundRect">
            <a:avLst>
              <a:gd name="adj" fmla="val 12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0080" y="4590288"/>
            <a:ext cx="73152" cy="438912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4626864"/>
            <a:ext cx="21945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Fix + verify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0" y="4626864"/>
            <a:ext cx="8229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8EAED"/>
                </a:solidFill>
                <a:latin typeface="Segoe UI"/>
              </a:rPr>
              <a:t>RED test → structural fix (not client) → no-op regression + local contract (wrapper) + inside the deployed image.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5102352"/>
            <a:ext cx="10927080" cy="438912"/>
          </a:xfrm>
          <a:prstGeom prst="roundRect">
            <a:avLst>
              <a:gd name="adj" fmla="val 12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40080" y="5102352"/>
            <a:ext cx="73152" cy="438912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5138928"/>
            <a:ext cx="21945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Handoff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0" y="5138928"/>
            <a:ext cx="8229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8EAED"/>
                </a:solidFill>
                <a:latin typeface="Segoe UI"/>
              </a:rPr>
              <a:t>Sanitize → the human does push/PR. A bot catches one more case → test + PLAYBOOK.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5806440"/>
            <a:ext cx="10927080" cy="475488"/>
          </a:xfrm>
          <a:prstGeom prst="roundRect">
            <a:avLst>
              <a:gd name="adj" fmla="val 28000"/>
            </a:avLst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40080" y="5806440"/>
            <a:ext cx="82296" cy="475488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The model doesn't earn trust for free: it earns it decision by decision, with evidence.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 2 · 09 · METHOD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Which tool the agent uses, and when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Claude Code · Course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37360"/>
            <a:ext cx="10927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AA4B2"/>
                </a:solidFill>
                <a:latin typeface="Segoe UI"/>
              </a:rPr>
              <a:t>CLAUDE.md rule: </a:t>
            </a:r>
            <a:r>
              <a:rPr sz="1200" b="1">
                <a:solidFill>
                  <a:srgbClr val="E8EAED"/>
                </a:solidFill>
                <a:latin typeface="Segoe UI"/>
              </a:rPr>
              <a:t>codegraph_explore FIRST (survey in 1 call) · Serena find_referencing_symbols for the precise check before renaming. </a:t>
            </a:r>
            <a:r>
              <a:rPr sz="1200" b="0">
                <a:solidFill>
                  <a:srgbClr val="9AA4B2"/>
                </a:solidFill>
                <a:latin typeface="Segoe UI"/>
              </a:rPr>
              <a:t>Order: cheap → expensive, deterministic → probabilistic.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86000"/>
            <a:ext cx="10927080" cy="457200"/>
          </a:xfrm>
          <a:prstGeom prst="roundRect">
            <a:avLst>
              <a:gd name="adj" fmla="val 12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331720"/>
            <a:ext cx="2651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Orient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2331720"/>
            <a:ext cx="6400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/kg (ticket graph → danger zone) · STATUS.md · git · gh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0" y="2331720"/>
            <a:ext cx="1280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AA4B2"/>
                </a:solidFill>
                <a:latin typeface="Segoe UI"/>
              </a:rPr>
              <a:t>no inference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834640"/>
            <a:ext cx="10927080" cy="457200"/>
          </a:xfrm>
          <a:prstGeom prst="roundRect">
            <a:avLst>
              <a:gd name="adj" fmla="val 12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880360"/>
            <a:ext cx="2651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Navigate (survey)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2880360"/>
            <a:ext cx="6400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CodeGraph codegraph_explore — source + paths + blast radius + coverage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49840" y="2880360"/>
            <a:ext cx="1280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AA4B2"/>
                </a:solidFill>
                <a:latin typeface="Segoe UI"/>
              </a:rPr>
              <a:t>1 call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383280"/>
            <a:ext cx="10927080" cy="457200"/>
          </a:xfrm>
          <a:prstGeom prst="roundRect">
            <a:avLst>
              <a:gd name="adj" fmla="val 12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429000"/>
            <a:ext cx="2651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Refactor-check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1880" y="3429000"/>
            <a:ext cx="6400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Serena find_referencing_symbols — disambiguates by class (before renaming)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49840" y="3429000"/>
            <a:ext cx="1280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AA4B2"/>
                </a:solidFill>
                <a:latin typeface="Segoe UI"/>
              </a:rPr>
              <a:t>precise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931920"/>
            <a:ext cx="10927080" cy="457200"/>
          </a:xfrm>
          <a:prstGeom prst="roundRect">
            <a:avLst>
              <a:gd name="adj" fmla="val 12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3977639"/>
            <a:ext cx="2651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Diagnose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11880" y="3977639"/>
            <a:ext cx="6400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Deterministic oracle: parser / validator / _diag_*.py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49840" y="3977639"/>
            <a:ext cx="1280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AA4B2"/>
                </a:solidFill>
                <a:latin typeface="Segoe UI"/>
              </a:rPr>
              <a:t>no inference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480560"/>
            <a:ext cx="10927080" cy="457200"/>
          </a:xfrm>
          <a:prstGeom prst="roundRect">
            <a:avLst>
              <a:gd name="adj" fmla="val 12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526280"/>
            <a:ext cx="2651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Environment (logs, config)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11880" y="4526280"/>
            <a:ext cx="6400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AWS CLI — CloudWatch · lambda get-function · SQS/DLQ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49840" y="4526280"/>
            <a:ext cx="1280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AA4B2"/>
                </a:solidFill>
                <a:latin typeface="Segoe UI"/>
              </a:rPr>
              <a:t>read-only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5029200"/>
            <a:ext cx="10927080" cy="457200"/>
          </a:xfrm>
          <a:prstGeom prst="roundRect">
            <a:avLst>
              <a:gd name="adj" fmla="val 12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5074920"/>
            <a:ext cx="2651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Output contract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11880" y="5074920"/>
            <a:ext cx="6400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Playwright / F12 on the endpoint the consumer sees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49840" y="5074920"/>
            <a:ext cx="1280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AA4B2"/>
                </a:solidFill>
                <a:latin typeface="Segoe UI"/>
              </a:rPr>
              <a:t>reproduce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5577840"/>
            <a:ext cx="10927080" cy="457200"/>
          </a:xfrm>
          <a:prstGeom prst="roundRect">
            <a:avLst>
              <a:gd name="adj" fmla="val 12000"/>
            </a:avLst>
          </a:prstGeom>
          <a:solidFill>
            <a:srgbClr val="222B38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" y="5623559"/>
            <a:ext cx="2651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Only at the end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11880" y="5623559"/>
            <a:ext cx="6400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AED"/>
                </a:solidFill>
                <a:latin typeface="Segoe UI"/>
              </a:rPr>
              <a:t>The LLM call — to VERIFY the fix, not to diagnose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49840" y="5623559"/>
            <a:ext cx="1280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AA4B2"/>
                </a:solidFill>
                <a:latin typeface="Segoe UI"/>
              </a:rPr>
              <a:t>metered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 2 · 09 · METHOD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Each tool in one sentence — and its phase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Claude Code · Course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28800"/>
            <a:ext cx="5335524" cy="1078992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41247" y="2029968"/>
            <a:ext cx="457200" cy="457200"/>
          </a:xfrm>
          <a:prstGeom prst="roundRect">
            <a:avLst>
              <a:gd name="adj" fmla="val 32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048256"/>
            <a:ext cx="457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CG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1975104"/>
            <a:ext cx="43754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CodeGraph → investigate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286000"/>
            <a:ext cx="4375404" cy="5760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Graph of the CODE (tree-sitter→SQLite, local). Survey in 1 call: source + callers + blast radius + coverage.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1636" y="1828800"/>
            <a:ext cx="5335524" cy="1078992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32804" y="2029968"/>
            <a:ext cx="457200" cy="457200"/>
          </a:xfrm>
          <a:prstGeom prst="roundRect">
            <a:avLst>
              <a:gd name="adj" fmla="val 32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2804" y="2048256"/>
            <a:ext cx="457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54596" y="1975104"/>
            <a:ext cx="43754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Serena → pre-refactor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54596" y="2286000"/>
            <a:ext cx="4375404" cy="5760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Semantic navigation via LSP. find_referencing_symbols disambiguates by class: the precise check before renaming.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163824"/>
            <a:ext cx="5335524" cy="1078992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1247" y="3364992"/>
            <a:ext cx="457200" cy="457200"/>
          </a:xfrm>
          <a:prstGeom prst="roundRect">
            <a:avLst>
              <a:gd name="adj" fmla="val 32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3383280"/>
            <a:ext cx="457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3310128"/>
            <a:ext cx="43754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GSD → plan/execute/verify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3621024"/>
            <a:ext cx="4375404" cy="5760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The method productized (gsd-* subagents + .planning/). For multi-phase greenfield; this project uses data/changes/, not GSD.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31636" y="3163824"/>
            <a:ext cx="5335524" cy="1078992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32804" y="3364992"/>
            <a:ext cx="457200" cy="457200"/>
          </a:xfrm>
          <a:prstGeom prst="roundRect">
            <a:avLst>
              <a:gd name="adj" fmla="val 32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32804" y="3383280"/>
            <a:ext cx="457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/kg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54596" y="3310128"/>
            <a:ext cx="43754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Ticket graph → orient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54596" y="3621024"/>
            <a:ext cx="4375404" cy="5760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Graph of the project's MEMORY (with graphify): tickets + sharp edges. History-first, no LLM (Part 3).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498848"/>
            <a:ext cx="5335524" cy="1078992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41247" y="4700016"/>
            <a:ext cx="457200" cy="457200"/>
          </a:xfrm>
          <a:prstGeom prst="roundRect">
            <a:avLst>
              <a:gd name="adj" fmla="val 32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7" y="4718304"/>
            <a:ext cx="457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Pw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63040" y="4645152"/>
            <a:ext cx="43754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Playwright → triage and outbound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63040" y="4956048"/>
            <a:ext cx="4375404" cy="5760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Reproduce the symptom where the consumer sees it: the real endpoint, not an internal function.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31636" y="4498848"/>
            <a:ext cx="5335524" cy="1078992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432804" y="4700016"/>
            <a:ext cx="457200" cy="457200"/>
          </a:xfrm>
          <a:prstGeom prst="roundRect">
            <a:avLst>
              <a:gd name="adj" fmla="val 32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32804" y="4718304"/>
            <a:ext cx="457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41A"/>
                </a:solidFill>
                <a:latin typeface="Segoe UI"/>
              </a:rPr>
              <a:t>Or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54596" y="4645152"/>
            <a:ext cx="43754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8EAED"/>
                </a:solidFill>
                <a:latin typeface="Segoe UI"/>
              </a:rPr>
              <a:t>Oracles → diagnose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54596" y="4956048"/>
            <a:ext cx="4375404" cy="5760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4B2"/>
                </a:solidFill>
                <a:latin typeface="Segoe UI"/>
              </a:rPr>
              <a:t>Your own parsers/validators/_diag_*.py: a cheap, reproducible answer before spending the LLM call.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5806440"/>
            <a:ext cx="10927080" cy="475488"/>
          </a:xfrm>
          <a:prstGeom prst="roundRect">
            <a:avLst>
              <a:gd name="adj" fmla="val 28000"/>
            </a:avLst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40080" y="5806440"/>
            <a:ext cx="82296" cy="475488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The classic inversion — the model diagnoses — is what this order avoids: the model verifies; the oracles diagnose.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 2 · 09 · METHOD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GSD: the methodology productized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Claude Code · Course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00784"/>
            <a:ext cx="5623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Phase-based cycle, state versioned in .planning/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011680"/>
            <a:ext cx="5623560" cy="2926080"/>
          </a:xfrm>
          <a:prstGeom prst="roundRect">
            <a:avLst>
              <a:gd name="adj" fmla="val 5000"/>
            </a:avLst>
          </a:prstGeom>
          <a:solidFill>
            <a:srgbClr val="0A0E13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194560"/>
            <a:ext cx="5166360" cy="2606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/gsd-new-project  -&gt; PROJECT.md + ROADMAP.md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/gsd-plan-phase   -&gt; PLAN.md  (+ gate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                     gsd-plan-checker)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/gsd-execute-phase-&gt; parallel waves,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                     atomic commits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/gsd-verify-work  -&gt; VERIFICATION.md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/gsd-progress     # what's next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1700784"/>
            <a:ext cx="5074920" cy="324612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59" y="1901952"/>
            <a:ext cx="4617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Segoe UI"/>
              </a:rPr>
              <a:t>Specialized subagents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59" y="2359152"/>
            <a:ext cx="4572000" cy="2423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gsd-planner — breakdown + dependencies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gsd-plan-checker — will it meet the goal? (goal-backward)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gsd-executor — atomic commits, checkpoints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gsd-code-reviewer — REVIEW.md by severity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gsd-verifier — verifies the GOAL, not just tasks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029200"/>
            <a:ext cx="109270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Do we use it here? No: </a:t>
            </a:r>
            <a:r>
              <a:rPr sz="1150" b="0">
                <a:solidFill>
                  <a:srgbClr val="9AA4B2"/>
                </a:solidFill>
                <a:latin typeface="Segoe UI"/>
              </a:rPr>
              <a:t>this project runs the 11-stage workflow + data/changes/, more refined for per-ticket fixes. GSD fits a multi-component greenfield (roadmap → phases). Here it illustrates Part 1: custom subagents + skills as a plugin.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806440"/>
            <a:ext cx="10927080" cy="475488"/>
          </a:xfrm>
          <a:prstGeom prst="roundRect">
            <a:avLst>
              <a:gd name="adj" fmla="val 28000"/>
            </a:avLst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" y="5806440"/>
            <a:ext cx="82296" cy="475488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Same method, productized: GSD for multi-phase greenfield; here, data/changes/ tuned to per-ticket fixes.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 2 · 09 · METHOD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CodeGraph: local code intelligence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Claude Code · Course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27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28800"/>
            <a:ext cx="5349240" cy="219456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029968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7AA2C7"/>
                </a:solidFill>
                <a:latin typeface="Segoe UI"/>
              </a:rPr>
              <a:t>Tree-sitter index → SQLite (.codegraph/)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87168"/>
            <a:ext cx="48463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Symbols: functions, classes, routes, components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Edges: calls, imports, inheritance, references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Deterministic (from the AST), no API keys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Returns: source + paths + blast radius + coverage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700784"/>
            <a:ext cx="5349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CLI  (install --location=global writes the MCP)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011680"/>
            <a:ext cx="5349240" cy="1554480"/>
          </a:xfrm>
          <a:prstGeom prst="roundRect">
            <a:avLst>
              <a:gd name="adj" fmla="val 5000"/>
            </a:avLst>
          </a:prstGeom>
          <a:solidFill>
            <a:srgbClr val="0A0E13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2194560"/>
            <a:ext cx="489204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codegraph init      # creates .codegraph/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codegraph sync      # incremental after edits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codegraph explore "&lt;symbol|question&gt;"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codegraph serve --path &lt;repo&gt; --mcp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794760"/>
            <a:ext cx="5349240" cy="109728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3913632"/>
            <a:ext cx="49377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Segoe UI"/>
              </a:rPr>
              <a:t>First for navigation:  </a:t>
            </a:r>
            <a:r>
              <a:rPr sz="1100" b="0">
                <a:solidFill>
                  <a:srgbClr val="E8EAED"/>
                </a:solidFill>
                <a:latin typeface="Segoe UI"/>
              </a:rPr>
              <a:t>source + callers + blast radius + coverage in 1 query (treat it as ALREADY read). Serena find_referencing_symbols = precise check (disambiguates by class). --path sets the default repo.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206240"/>
            <a:ext cx="53492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8CC28C"/>
                </a:solidFill>
                <a:latin typeface="Segoe UI"/>
              </a:rPr>
              <a:t>58% fewer tool calls · 22% faster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9AA4B2"/>
                </a:solidFill>
                <a:latin typeface="Segoe UI"/>
              </a:rPr>
              <a:t>(per its benchmarks: nearly eliminates file reads)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806440"/>
            <a:ext cx="10927080" cy="475488"/>
          </a:xfrm>
          <a:prstGeom prst="roundRect">
            <a:avLst>
              <a:gd name="adj" fmla="val 28000"/>
            </a:avLst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" y="5806440"/>
            <a:ext cx="82296" cy="475488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One query instead of grep→open→follow-import→repeat. Less context, more signal.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 2 · 09 · METHOD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Serena: semantic navigation, precise check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Claude Code · Course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28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28800"/>
            <a:ext cx="5349240" cy="237744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029968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7AA2C7"/>
                </a:solidFill>
                <a:latin typeface="Segoe UI"/>
              </a:rPr>
              <a:t>Semantic navigation via LSP (MCP)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87168"/>
            <a:ext cx="48463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Operates on SYMBOLS, not text: IDE precision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find_symbol (body=true) — one method from a 5k-line file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get_symbols_overview — a file's skeleton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find_referencing_symbols — who references, BY CLASS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search_for_pattern · activate_project (multi-repo)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837944"/>
            <a:ext cx="5349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Install (stdio)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148840"/>
            <a:ext cx="5349240" cy="1234440"/>
          </a:xfrm>
          <a:prstGeom prst="roundRect">
            <a:avLst>
              <a:gd name="adj" fmla="val 5000"/>
            </a:avLst>
          </a:prstGeom>
          <a:solidFill>
            <a:srgbClr val="0A0E13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2331720"/>
            <a:ext cx="4892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claude mcp add serena -- uvx \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  --from git+https://github.com/oraios/serena \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  serena start-mcp-server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657600"/>
            <a:ext cx="5349240" cy="141732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952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3794760"/>
            <a:ext cx="49377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Segoe UI"/>
              </a:rPr>
              <a:t>Why it's MANDATORY pre-rename:  </a:t>
            </a:r>
            <a:r>
              <a:rPr sz="1100" b="0">
                <a:solidFill>
                  <a:srgbClr val="E8EAED"/>
                </a:solidFill>
                <a:latin typeface="Segoe UI"/>
              </a:rPr>
              <a:t>CodeGraph's flat impact mixes same-name methods (Invoice.process vs Refund.process); Serena disambiguates them by class. Complementary, not rivals.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434840"/>
            <a:ext cx="5349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The refactor-scout subagent </a:t>
            </a:r>
            <a:r>
              <a:rPr sz="1150" b="0">
                <a:solidFill>
                  <a:srgbClr val="9AA4B2"/>
                </a:solidFill>
                <a:latin typeface="Segoe UI"/>
              </a:rPr>
              <a:t>(ejemplos/subagents/) packages the CodeGraph → Serena → grep order as a procedure.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806440"/>
            <a:ext cx="10927080" cy="475488"/>
          </a:xfrm>
          <a:prstGeom prst="roundRect">
            <a:avLst>
              <a:gd name="adj" fmla="val 28000"/>
            </a:avLst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" y="5806440"/>
            <a:ext cx="82296" cy="475488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CodeGraph answers 'what breaks?'; Serena answers 'exactly who calls THIS process()?'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 2 · 10 · TRANSFER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Proof it's agnostic: taking it to Copilot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Claude Code · Course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29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28800"/>
            <a:ext cx="5349240" cy="251460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029968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8CC28C"/>
                </a:solidFill>
                <a:latin typeface="Segoe UI"/>
              </a:rPr>
              <a:t>Travels UNCHANGED (the 5 rules)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87168"/>
            <a:ext cx="484632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Plan → agreement → implement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Verify against the CONSUMER's contract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Solve the general class, not one input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Durable trail: why, what, how it was verified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The human owns the external (merge, deploy)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828800"/>
            <a:ext cx="5349240" cy="251460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029968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7AA2C7"/>
                </a:solidFill>
                <a:latin typeface="Segoe UI"/>
              </a:rPr>
              <a:t>Re-mapped per repo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487168"/>
            <a:ext cx="484632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The contract: HTTP / DB / event / artifact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The tracker: Jira · Azure Boards · Issues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The test pyramid and the deployed runtime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The local sanitization rules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The tools: Serena/CodeGraph//kg are fungible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26280"/>
            <a:ext cx="10927080" cy="114300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727448"/>
            <a:ext cx="10469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Segoe UI"/>
              </a:rPr>
              <a:t>The starter-kit (docs/ai-agents-code-methodology/)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184648"/>
            <a:ext cx="1042415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STATUS · SHARP_EDGES · handover · QA templates + bootstrap-new-repo.ps1 → structure in the target repo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Without the ticket graph: deterministic fallback (STATUS newest-first + lexical search + commit history) = 80% of the value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806440"/>
            <a:ext cx="10927080" cy="475488"/>
          </a:xfrm>
          <a:prstGeom prst="roundRect">
            <a:avLst>
              <a:gd name="adj" fmla="val 28000"/>
            </a:avLst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" y="5806440"/>
            <a:ext cx="82296" cy="475488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If you keep only five rules, keep these five. Tools get swapped; the discipline travels.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 2 · 11 · 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Machine sync (A): transport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Claude Code · Course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30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28800"/>
            <a:ext cx="5349240" cy="246888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029968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7AA2C7"/>
                </a:solidFill>
                <a:latin typeface="Segoe UI"/>
              </a:rPr>
              <a:t>Outbound — full copy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87168"/>
            <a:ext cx="484632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One tarball: workspace + ~/.claude · .aws · .ssh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-h dereferences the .aws symlink (critical)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Excludes venvs / node_modules / caches / .codegraph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USB: manual mount in WSL + byte-for-byte verify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On target: bootstrap (/kg) + target-setup.sh rebuild the tooling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828800"/>
            <a:ext cx="5349240" cy="246888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029968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8CC28C"/>
                </a:solidFill>
                <a:latin typeface="Segoe UI"/>
              </a:rPr>
              <a:t>Inbound — delta only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487168"/>
            <a:ext cx="484632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The code is already on GitHub → git fetch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Gitignored docs in data/ + memory (snapshot-memory) travel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On the main one: restore-memory → /kg-refresh rebuilds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backup + diff of STATUS.md; STOP if it had manual edits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407408"/>
            <a:ext cx="10927080" cy="128016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608576"/>
            <a:ext cx="10469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Segoe UI"/>
              </a:rPr>
              <a:t>An agent drives the landing — with guardrails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65776"/>
            <a:ext cx="10424159" cy="4571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Non-destructive only (rename, don't delete) · git fetch = only network op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The human does push / merge; the agent prepares and reports with evidence (counts, PRs)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806440"/>
            <a:ext cx="10927080" cy="475488"/>
          </a:xfrm>
          <a:prstGeom prst="roundRect">
            <a:avLst>
              <a:gd name="adj" fmla="val 28000"/>
            </a:avLst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" y="5806440"/>
            <a:ext cx="82296" cy="475488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The methodology isn't just for code: durable memory, guardrails and 'the human does the external' in ops too.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 2 · 11 · 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Machine sync (B): sharing over S3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Claude Code · Course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55648"/>
            <a:ext cx="109270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AA4B2"/>
                </a:solidFill>
                <a:latin typeface="Segoe UI"/>
              </a:rPr>
              <a:t>The tarball solves </a:t>
            </a:r>
            <a:r>
              <a:rPr sz="1200" b="1">
                <a:solidFill>
                  <a:srgbClr val="E8EAED"/>
                </a:solidFill>
                <a:latin typeface="Segoe UI"/>
              </a:rPr>
              <a:t>transport</a:t>
            </a:r>
            <a:r>
              <a:rPr sz="1200" b="0">
                <a:solidFill>
                  <a:srgbClr val="9AA4B2"/>
                </a:solidFill>
                <a:latin typeface="Segoe UI"/>
              </a:rPr>
              <a:t> between YOUR machines. It doesn't solve </a:t>
            </a:r>
            <a:r>
              <a:rPr sz="1200" b="1">
                <a:solidFill>
                  <a:srgbClr val="E8EAED"/>
                </a:solidFill>
                <a:latin typeface="Segoe UI"/>
              </a:rPr>
              <a:t>sharing</a:t>
            </a:r>
            <a:r>
              <a:rPr sz="1200" b="0">
                <a:solidFill>
                  <a:srgbClr val="9AA4B2"/>
                </a:solidFill>
                <a:latin typeface="Segoe UI"/>
              </a:rPr>
              <a:t>: the record is gitignored → it can't be linked from a ticket, and each person ends up with their own private index of the same history.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304288"/>
            <a:ext cx="5349240" cy="205740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505456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7AA2C7"/>
                </a:solidFill>
                <a:latin typeface="Segoe UI"/>
              </a:rPr>
              <a:t>The rules that make it safe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962656"/>
            <a:ext cx="484632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Narrow scope: docs + graph. No client data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Write via sync · read via READ-ONLY mount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Dry-run by default; explicit --go; --delete separate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Bucket versioning = recovery net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304288"/>
            <a:ext cx="5349240" cy="205740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505456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8CC28C"/>
                </a:solidFill>
                <a:latin typeface="Segoe UI"/>
              </a:rPr>
              <a:t>Source of truth vs. derived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962656"/>
            <a:ext cx="484632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Docs rule; the graph is DERIVED from them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Per-ticket files almost never collide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The graph is the only real contention point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→ rebuild locally, or ONE single publisher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471416"/>
            <a:ext cx="10927080" cy="1207008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672583"/>
            <a:ext cx="10469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Segoe UI"/>
              </a:rPr>
              <a:t>The agent-specific part: the machine has a role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129783"/>
            <a:ext cx="1042415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Several machines, different permissions → the session must know WHERE it is before acting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MACHINE_NAME / MACHINE_ROLE → IDENTITY.md (machine-local) ← CLAUDE.md points at it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806440"/>
            <a:ext cx="10927080" cy="475488"/>
          </a:xfrm>
          <a:prstGeom prst="roundRect">
            <a:avLst>
              <a:gd name="adj" fmla="val 28000"/>
            </a:avLst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" y="5806440"/>
            <a:ext cx="82296" cy="475488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A writable mount over object storage isn't a convenience: it's corruption you discover weeks later.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Segoe UI"/>
              </a:rPr>
              <a:t>PART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400" b="1">
                <a:solidFill>
                  <a:srgbClr val="E8EAED"/>
                </a:solidFill>
                <a:latin typeface="Segoe UI"/>
              </a:rPr>
              <a:t>The ticket graph</a:t>
            </a:r>
          </a:p>
        </p:txBody>
      </p:sp>
      <p:sp>
        <p:nvSpPr>
          <p:cNvPr id="7" name="Rectangle 6"/>
          <p:cNvSpPr/>
          <p:nvPr/>
        </p:nvSpPr>
        <p:spPr>
          <a:xfrm>
            <a:off x="932688" y="2606040"/>
            <a:ext cx="1280160" cy="457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88920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9AA4B2"/>
                </a:solidFill>
                <a:latin typeface="Segoe UI"/>
              </a:rPr>
              <a:t>A complete case built with graphify — not CodeGraph: the project's memory, navigable.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520440"/>
            <a:ext cx="5212080" cy="475488"/>
          </a:xfrm>
          <a:prstGeom prst="roundRect">
            <a:avLst>
              <a:gd name="adj" fmla="val 1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566160"/>
            <a:ext cx="48463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EAED"/>
                </a:solidFill>
                <a:latin typeface="Segoe UI"/>
              </a:rPr>
              <a:t>12a · The problem and the design (spike)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3520440"/>
            <a:ext cx="5212080" cy="475488"/>
          </a:xfrm>
          <a:prstGeom prst="roundRect">
            <a:avLst>
              <a:gd name="adj" fmla="val 1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3566160"/>
            <a:ext cx="48463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EAED"/>
                </a:solidFill>
                <a:latin typeface="Segoe UI"/>
              </a:rPr>
              <a:t>12b · Pipeline and commands (/kg, /kg-refresh)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087368"/>
            <a:ext cx="5212080" cy="475488"/>
          </a:xfrm>
          <a:prstGeom prst="roundRect">
            <a:avLst>
              <a:gd name="adj" fmla="val 1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4133087"/>
            <a:ext cx="48463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EAED"/>
                </a:solidFill>
                <a:latin typeface="Segoe UI"/>
              </a:rPr>
              <a:t>12c · The real graph, visualized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4087368"/>
            <a:ext cx="5212080" cy="475488"/>
          </a:xfrm>
          <a:prstGeom prst="roundRect">
            <a:avLst>
              <a:gd name="adj" fmla="val 1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4133087"/>
            <a:ext cx="48463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8EAED"/>
                </a:solidFill>
                <a:latin typeface="Segoe UI"/>
              </a:rPr>
              <a:t>12d · Usage and hook into the methodology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 3 · 12A · TICKET GRAPH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The problem, and why graphify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Claude Code · Course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33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28800"/>
            <a:ext cx="5349240" cy="228600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029968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Segoe UI"/>
              </a:rPr>
              <a:t>The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87168"/>
            <a:ext cx="48463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~540 files of writeups, sharp edges, runbooks, memory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A 'new' bug almost always has prior context constraining the fix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Finding it by hand = remembering it exists + grep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The graph makes it EXPLICIT and queryable in 1 call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828800"/>
            <a:ext cx="5349240" cy="228600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029968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7AA2C7"/>
                </a:solidFill>
                <a:latin typeface="Segoe UI"/>
              </a:rPr>
              <a:t>The corpus: manifest, not glob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487168"/>
            <a:ext cx="48463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manifest.txt DIFFABLE: ~116 files, ~196k words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sst-* writeups (+ deterministic fallback) · hubs · runbooks · memory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Hard exclusions: binaries, repeated handovers, stale copies (payload/)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Density without new knowledge = noise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343400"/>
            <a:ext cx="10927080" cy="1234440"/>
          </a:xfrm>
          <a:prstGeom prst="roundRect">
            <a:avLst>
              <a:gd name="adj" fmla="val 8000"/>
            </a:avLst>
          </a:prstGeom>
          <a:solidFill>
            <a:srgbClr val="222B38"/>
          </a:solidFill>
          <a:ln w="9525">
            <a:solidFill>
              <a:srgbClr val="8CC2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498848"/>
            <a:ext cx="104241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8CC28C"/>
                </a:solidFill>
                <a:latin typeface="Segoe UI"/>
              </a:rPr>
              <a:t>The technology is graphify — CodeGraph is just the analogy.  </a:t>
            </a:r>
            <a:r>
              <a:rPr sz="1150" b="0">
                <a:solidFill>
                  <a:srgbClr val="E8EAED"/>
                </a:solidFill>
                <a:latin typeface="Segoe UI"/>
              </a:rPr>
              <a:t>Same role (queryable graph before touching anything), different domain (tickets, not code), different tool. Phase 1 was a SPIKE with a keep/extend/replace decision: validate off-the-shelf graphify before investing in custom extraction. It sufficed — and it stayed.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806440"/>
            <a:ext cx="10927080" cy="475488"/>
          </a:xfrm>
          <a:prstGeom prst="roundRect">
            <a:avLst>
              <a:gd name="adj" fmla="val 28000"/>
            </a:avLst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" y="5806440"/>
            <a:ext cx="82296" cy="475488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Full material (design, scripts, tests, real output): docs/knowledge-graph/.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 3 · 12B · TICKET GRAPH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Pipeline and commands built in Claude Code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Claude Code · Course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34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46504"/>
            <a:ext cx="5806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Build (skill /kg-refresh)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057400"/>
            <a:ext cx="5806440" cy="1965960"/>
          </a:xfrm>
          <a:prstGeom prst="roundRect">
            <a:avLst>
              <a:gd name="adj" fmla="val 5000"/>
            </a:avLst>
          </a:prstGeom>
          <a:solidFill>
            <a:srgbClr val="0A0E13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40280"/>
            <a:ext cx="5349240" cy="1645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kg_refresh.sh prepare   # manifest -&gt; stage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                        # -&gt; scratch OUTSIDE the repo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/graphify &lt;scratch&gt;     # ONLY step with LLM: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                        # nodes+edges+clustering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kg_refresh.sh finalize  # output/ + leak-check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20840" y="1755648"/>
            <a:ext cx="4846320" cy="228600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95159" y="1956816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7AA2C7"/>
                </a:solidFill>
                <a:latin typeface="Segoe UI"/>
              </a:rPr>
              <a:t>The pieces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59" y="2414015"/>
            <a:ext cx="4343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/kg and /kg-refresh — Claude Code skills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kg_query.sh — wraps graphify explain/path + find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kg_refresh.sh — prepare · finalize · bootstrap · snapshot/restore-memory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build_manifest.py + stage_corpus.py — the corpus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test_kg_*.py — the bookends, TESTED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224528"/>
            <a:ext cx="10927080" cy="1371600"/>
          </a:xfrm>
          <a:prstGeom prst="roundRect">
            <a:avLst>
              <a:gd name="adj" fmla="val 8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370832"/>
            <a:ext cx="10424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The gotcha behind it:  </a:t>
            </a:r>
            <a:r>
              <a:rPr sz="1150" b="0">
                <a:solidFill>
                  <a:srgbClr val="E8EAED"/>
                </a:solidFill>
                <a:latin typeface="Segoe UI"/>
              </a:rPr>
              <a:t>graphify honors .gitignore and all of data/ is ignored → running the detector in place finds 0 files. Hence the corpus is staged in a scratch outside the repo and artifacts are copied back.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8CC28C"/>
                </a:solidFill>
                <a:latin typeface="Segoe UI"/>
              </a:rPr>
              <a:t>That's why /kg-refresh is a skill, not a script:  </a:t>
            </a:r>
            <a:r>
              <a:rPr sz="1150" b="0">
                <a:solidFill>
                  <a:srgbClr val="E8EAED"/>
                </a:solidFill>
                <a:latin typeface="Segoe UI"/>
              </a:rPr>
              <a:t>the semantic step (/graphify, subagents in parallel) is a Claude step; the bookends are deterministic.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806440"/>
            <a:ext cx="10927080" cy="475488"/>
          </a:xfrm>
          <a:prstGeom prst="roundRect">
            <a:avLst>
              <a:gd name="adj" fmla="val 28000"/>
            </a:avLst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" y="5806440"/>
            <a:ext cx="82296" cy="475488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Staging with provenance: sst-5468__sst-5468.md, hub__STATUS.md, memory__x.md — each node traces to its source.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 3 · 12C · TICKET GRAPH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The real graph: 507 nodes, 35 communities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Claude Code · Course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35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" y="1764792"/>
            <a:ext cx="8083296" cy="4562856"/>
          </a:xfrm>
          <a:prstGeom prst="rect">
            <a:avLst/>
          </a:prstGeom>
          <a:noFill/>
          <a:ln w="12700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kg_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83080"/>
            <a:ext cx="8046720" cy="45262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869680" y="1783080"/>
            <a:ext cx="2697480" cy="310896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0" y="1984248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8CC28C"/>
                </a:solidFill>
                <a:latin typeface="Segoe UI"/>
              </a:rPr>
              <a:t>The real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2441448"/>
            <a:ext cx="219456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507 nodes · 672 edges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35 communities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92% EXTRACTED (reliable)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7% INFERRED (conf. 0.7)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8CC28C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116 files, ~196k words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5029200"/>
            <a:ext cx="26974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interactive graph.html: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AA4B2"/>
                </a:solidFill>
                <a:latin typeface="Segoe UI"/>
              </a:rPr>
              <a:t>node search, info panel, community filter (vis-network).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806440"/>
            <a:ext cx="10927080" cy="475488"/>
          </a:xfrm>
          <a:prstGeom prst="roundRect">
            <a:avLst>
              <a:gd name="adj" fmla="val 28000"/>
            </a:avLst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" y="5806440"/>
            <a:ext cx="82296" cy="475488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Communities map to real danger zones; the god-nodes are a free onboarding list.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 3 · 12D · TICKET GRAPH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How it's used — and where it hooks in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Claude Code · Course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46504"/>
            <a:ext cx="5806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7AA2C7"/>
                </a:solidFill>
                <a:latin typeface="Segoe UI"/>
              </a:rPr>
              <a:t>Query: ZERO LLM (kg_query.sh reads graph.json)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057400"/>
            <a:ext cx="5806440" cy="1828800"/>
          </a:xfrm>
          <a:prstGeom prst="roundRect">
            <a:avLst>
              <a:gd name="adj" fmla="val 5000"/>
            </a:avLst>
          </a:prstGeom>
          <a:solidFill>
            <a:srgbClr val="0A0E13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40280"/>
            <a:ext cx="5349240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/kg &lt;ticket|topic&gt; # neighbors (explain)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/kg &lt;A&gt; &lt;B&gt;        # path      (path)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/kg find &lt;substr&gt;  # exact node name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AED"/>
                </a:solidFill>
                <a:latin typeface="Consolas"/>
              </a:rPr>
              <a:t>/kg-refresh        # rebuild (cheap)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20840" y="1755648"/>
            <a:ext cx="4846320" cy="228600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95159" y="1956816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Segoe UI"/>
              </a:rPr>
              <a:t>Where it hooks 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59" y="2414015"/>
            <a:ext cx="4343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Stage 1 (Orient) of the 11-stage workflow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CLAUDE.md history-first rule: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/kg &lt;ticket|topic&gt; BEFORE grep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D9775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Points at WHAT to read; doesn't replace 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069080"/>
            <a:ext cx="5806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8CC28C"/>
                </a:solidFill>
                <a:latin typeface="Segoe UI"/>
              </a:rPr>
              <a:t>Real example: /kg get_letter_end </a:t>
            </a:r>
            <a:r>
              <a:rPr sz="1150" b="0">
                <a:solidFill>
                  <a:srgbClr val="9AA4B2"/>
                </a:solidFill>
                <a:latin typeface="Segoe UI"/>
              </a:rPr>
              <a:t>→ the full danger zone instantly: the 5-6 tickets sharing that code.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54880"/>
            <a:ext cx="10927080" cy="91440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956048"/>
            <a:ext cx="10469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7AA2C7"/>
                </a:solidFill>
                <a:latin typeface="Segoe UI"/>
              </a:rPr>
              <a:t>Honesty and lifecycle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413248"/>
            <a:ext cx="10424159" cy="91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▸  </a:t>
            </a:r>
            <a:r>
              <a:rPr sz="1150" b="0">
                <a:solidFill>
                  <a:srgbClr val="E8EAED"/>
                </a:solidFill>
                <a:latin typeface="Segoe UI"/>
              </a:rPr>
              <a:t>Recall in dense zones · EXTRACTED = reliable, INFERRED = hint · internal (data/) · derived: never travels, gets rebuilt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806440"/>
            <a:ext cx="10927080" cy="475488"/>
          </a:xfrm>
          <a:prstGeom prst="roundRect">
            <a:avLst>
              <a:gd name="adj" fmla="val 28000"/>
            </a:avLst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" y="5806440"/>
            <a:ext cx="82296" cy="475488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One semantic step in the build, zero LLM in the query. The graph is the map; the agent, the guide.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CLOSING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From assistant to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Claude Code · Course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37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5349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PART 1 · the tool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148840"/>
            <a:ext cx="5349240" cy="777240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2313432"/>
            <a:ext cx="402336" cy="402336"/>
          </a:xfrm>
          <a:prstGeom prst="roundRect">
            <a:avLst>
              <a:gd name="adj" fmla="val 35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322576"/>
            <a:ext cx="40233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F141A"/>
                </a:solidFill>
                <a:latin typeface="Segoe U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24028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E8EAED"/>
                </a:solidFill>
                <a:latin typeface="Segoe UI"/>
              </a:rPr>
              <a:t>Install + memory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542032"/>
            <a:ext cx="45720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AA4B2"/>
                </a:solidFill>
                <a:latin typeface="Segoe UI"/>
              </a:rPr>
              <a:t>One line; two-tier CLAUDE.md; sessions that travel.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017520"/>
            <a:ext cx="5349240" cy="777240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2960" y="3182112"/>
            <a:ext cx="402336" cy="402336"/>
          </a:xfrm>
          <a:prstGeom prst="roundRect">
            <a:avLst>
              <a:gd name="adj" fmla="val 35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191256"/>
            <a:ext cx="40233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F141A"/>
                </a:solidFill>
                <a:latin typeface="Segoe U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10896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E8EAED"/>
                </a:solidFill>
                <a:latin typeface="Segoe UI"/>
              </a:rPr>
              <a:t>Context &amp; caching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410712"/>
            <a:ext cx="45720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AA4B2"/>
                </a:solidFill>
                <a:latin typeface="Segoe UI"/>
              </a:rPr>
              <a:t>The budget and the discount: lean and stable wins both.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886200"/>
            <a:ext cx="5349240" cy="777240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22960" y="4050791"/>
            <a:ext cx="402336" cy="402336"/>
          </a:xfrm>
          <a:prstGeom prst="roundRect">
            <a:avLst>
              <a:gd name="adj" fmla="val 35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059936"/>
            <a:ext cx="40233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F141A"/>
                </a:solidFill>
                <a:latin typeface="Segoe U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3977639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E8EAED"/>
                </a:solidFill>
                <a:latin typeface="Segoe UI"/>
              </a:rPr>
              <a:t>MCP + skills + plugins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279392"/>
            <a:ext cx="45720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AA4B2"/>
                </a:solidFill>
                <a:latin typeface="Segoe UI"/>
              </a:rPr>
              <a:t>Connect your world; package and distribute workflows.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754879"/>
            <a:ext cx="5349240" cy="777240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2960" y="4919471"/>
            <a:ext cx="402336" cy="402336"/>
          </a:xfrm>
          <a:prstGeom prst="roundRect">
            <a:avLst>
              <a:gd name="adj" fmla="val 35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928616"/>
            <a:ext cx="40233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F141A"/>
                </a:solidFill>
                <a:latin typeface="Segoe U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4846319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E8EAED"/>
                </a:solidFill>
                <a:latin typeface="Segoe UI"/>
              </a:rPr>
              <a:t>Subagents &amp; teams + automation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5148071"/>
            <a:ext cx="45720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AA4B2"/>
                </a:solidFill>
                <a:latin typeface="Segoe UI"/>
              </a:rPr>
              <a:t>Scale the work; hooks that guarantee quality.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1783080"/>
            <a:ext cx="5349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AA2C7"/>
                </a:solidFill>
                <a:latin typeface="Segoe UI"/>
              </a:rPr>
              <a:t>PART 2 + 3 · the method and the graph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2148840"/>
            <a:ext cx="5349240" cy="777240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400800" y="2313432"/>
            <a:ext cx="402336" cy="402336"/>
          </a:xfrm>
          <a:prstGeom prst="roundRect">
            <a:avLst>
              <a:gd name="adj" fmla="val 35000"/>
            </a:avLst>
          </a:prstGeom>
          <a:solidFill>
            <a:srgbClr val="7AA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2322576"/>
            <a:ext cx="40233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F141A"/>
                </a:solidFill>
                <a:latin typeface="Segoe U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224028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E8EAED"/>
                </a:solidFill>
                <a:latin typeface="Segoe UI"/>
              </a:rPr>
              <a:t>The 11-stage workflow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2542032"/>
            <a:ext cx="45720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AA4B2"/>
                </a:solidFill>
                <a:latin typeface="Segoe UI"/>
              </a:rPr>
              <a:t>Deterministic gates; the human owns the decisions.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3017520"/>
            <a:ext cx="5349240" cy="777240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400800" y="3182112"/>
            <a:ext cx="402336" cy="402336"/>
          </a:xfrm>
          <a:prstGeom prst="roundRect">
            <a:avLst>
              <a:gd name="adj" fmla="val 35000"/>
            </a:avLst>
          </a:prstGeom>
          <a:solidFill>
            <a:srgbClr val="7AA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3191256"/>
            <a:ext cx="40233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F141A"/>
                </a:solidFill>
                <a:latin typeface="Segoe UI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49440" y="310896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E8EAED"/>
                </a:solidFill>
                <a:latin typeface="Segoe UI"/>
              </a:rPr>
              <a:t>The method's tools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9440" y="3410712"/>
            <a:ext cx="45720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AA4B2"/>
                </a:solidFill>
                <a:latin typeface="Segoe UI"/>
              </a:rPr>
              <a:t>CodeGraph · Serena · oracles: cheap→expensive; GSD = the method productized.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17920" y="3886200"/>
            <a:ext cx="5349240" cy="777240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400800" y="4050791"/>
            <a:ext cx="402336" cy="402336"/>
          </a:xfrm>
          <a:prstGeom prst="roundRect">
            <a:avLst>
              <a:gd name="adj" fmla="val 35000"/>
            </a:avLst>
          </a:prstGeom>
          <a:solidFill>
            <a:srgbClr val="7AA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0" y="4059936"/>
            <a:ext cx="40233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F141A"/>
                </a:solidFill>
                <a:latin typeface="Segoe UI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49440" y="3977639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E8EAED"/>
                </a:solidFill>
                <a:latin typeface="Segoe UI"/>
              </a:rPr>
              <a:t>Transferable, even to ops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49440" y="4279392"/>
            <a:ext cx="45720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AA4B2"/>
                </a:solidFill>
                <a:latin typeface="Segoe UI"/>
              </a:rPr>
              <a:t>Starter-kit proven on Copilot; machine-sync with guardrails.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17920" y="4754879"/>
            <a:ext cx="5349240" cy="777240"/>
          </a:xfrm>
          <a:prstGeom prst="roundRect">
            <a:avLst>
              <a:gd name="adj" fmla="val 9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400800" y="4919471"/>
            <a:ext cx="402336" cy="402336"/>
          </a:xfrm>
          <a:prstGeom prst="roundRect">
            <a:avLst>
              <a:gd name="adj" fmla="val 35000"/>
            </a:avLst>
          </a:prstGeom>
          <a:solidFill>
            <a:srgbClr val="7AA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0" y="4928616"/>
            <a:ext cx="40233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F141A"/>
                </a:solidFill>
                <a:latin typeface="Segoe UI"/>
              </a:rPr>
              <a:t>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49440" y="4846319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E8EAED"/>
                </a:solidFill>
                <a:latin typeface="Segoe UI"/>
              </a:rPr>
              <a:t>The ticket graph (graphify)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49440" y="5148071"/>
            <a:ext cx="45720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AA4B2"/>
                </a:solidFill>
                <a:latin typeface="Segoe UI"/>
              </a:rPr>
              <a:t>507 nodes · 35 communities: history-first, no LLM.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" y="58064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6707E"/>
                </a:solidFill>
                <a:latin typeface="Segoe UI"/>
              </a:rPr>
              <a:t>References:  code.claude.com/docs  ·  github.com/tomascortereal/claude-code-setup  ·  colbymchenry.github.io/codegraph  ·  github.com/oraios/serena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5" name="Rectangle 114">
            <a:extLst>
              <a:ext uri="{FF2B5EF4-FFF2-40B4-BE49-F238E27FC236}">
                <a16:creationId xmlns:a16="http://schemas.microsoft.com/office/drawing/2014/main" id="{928F64C6-FE22-4FC1-A763-DFCC51481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4261224" y="4577975"/>
            <a:ext cx="7539349" cy="1899827"/>
          </a:xfrm>
          <a:prstGeom prst="rect">
            <a:avLst/>
          </a:prstGeom>
          <a:solidFill>
            <a:srgbClr val="404040"/>
          </a:solidFill>
          <a:ln w="127000" cap="sq" cmpd="thinThick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1F85BB-65D7-0B6B-A637-312ABF2024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03468" y="4741948"/>
            <a:ext cx="6829520" cy="862031"/>
          </a:xfrm>
        </p:spPr>
        <p:txBody>
          <a:bodyPr>
            <a:norm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Agentic Ai</a:t>
            </a:r>
            <a:br>
              <a:rPr lang="en-US" sz="1600" b="1">
                <a:solidFill>
                  <a:srgbClr val="FFFFFF"/>
                </a:solidFill>
              </a:rPr>
            </a:br>
            <a:br>
              <a:rPr lang="en-US" sz="1600" b="1">
                <a:solidFill>
                  <a:srgbClr val="FFFFFF"/>
                </a:solidFill>
              </a:rPr>
            </a:br>
            <a:r>
              <a:rPr lang="en-US" sz="1600" b="1">
                <a:solidFill>
                  <a:srgbClr val="FFFFFF"/>
                </a:solidFill>
              </a:rPr>
              <a:t>Claude Code: from assistant to agentic developing system</a:t>
            </a:r>
            <a:endParaRPr lang="en-GB" sz="1600">
              <a:solidFill>
                <a:srgbClr val="FFFFFF"/>
              </a:solidFill>
            </a:endParaRPr>
          </a:p>
        </p:txBody>
      </p:sp>
      <p:pic>
        <p:nvPicPr>
          <p:cNvPr id="116" name="Picture 11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636" y="444074"/>
            <a:ext cx="3797570" cy="1765870"/>
          </a:xfrm>
          <a:prstGeom prst="rect">
            <a:avLst/>
          </a:prstGeom>
        </p:spPr>
      </p:pic>
      <p:pic>
        <p:nvPicPr>
          <p:cNvPr id="117" name="Picture 11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922" y="2422097"/>
            <a:ext cx="2432184" cy="2013804"/>
          </a:xfrm>
          <a:prstGeom prst="rect">
            <a:avLst/>
          </a:prstGeom>
        </p:spPr>
      </p:pic>
      <p:pic>
        <p:nvPicPr>
          <p:cNvPr id="118" name="Picture 11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2549" y="480651"/>
            <a:ext cx="3793472" cy="3793484"/>
          </a:xfrm>
          <a:prstGeom prst="rect">
            <a:avLst/>
          </a:prstGeom>
        </p:spPr>
      </p:pic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5C34627B-48E6-4F4D-B843-97717A86B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19934" y="5694097"/>
            <a:ext cx="5486400" cy="0"/>
          </a:xfrm>
          <a:prstGeom prst="line">
            <a:avLst/>
          </a:prstGeom>
          <a:ln w="1587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9" name="Picture 1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1711" y="4525715"/>
            <a:ext cx="1866605" cy="2010551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0B591550-236E-C092-2595-79DBAAF3ABAD}"/>
              </a:ext>
            </a:extLst>
          </p:cNvPr>
          <p:cNvGrpSpPr/>
          <p:nvPr/>
        </p:nvGrpSpPr>
        <p:grpSpPr>
          <a:xfrm>
            <a:off x="8086176" y="737057"/>
            <a:ext cx="3797984" cy="3280672"/>
            <a:chOff x="8086176" y="737057"/>
            <a:chExt cx="3797984" cy="3280672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0BDF5EB6-DF3D-702D-7DAE-67542339608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086176" y="737057"/>
              <a:ext cx="3797984" cy="3280672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AF4BD6C5-8DF2-E669-7A95-169D1F56ACC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218841" y="840007"/>
              <a:ext cx="1295581" cy="32389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>
            <a:extLst>
              <a:ext uri="{FF2B5EF4-FFF2-40B4-BE49-F238E27FC236}">
                <a16:creationId xmlns:a16="http://schemas.microsoft.com/office/drawing/2014/main" id="{EE30954D-B99B-5794-83DE-E304686660F1}"/>
              </a:ext>
            </a:extLst>
          </p:cNvPr>
          <p:cNvSpPr/>
          <p:nvPr/>
        </p:nvSpPr>
        <p:spPr>
          <a:xfrm>
            <a:off x="-82296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160B63D-C1F5-00FC-B7C0-84A9C5972257}"/>
              </a:ext>
            </a:extLst>
          </p:cNvPr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7CE552-5271-A4ED-EF57-A2731E4BB67E}"/>
              </a:ext>
            </a:extLst>
          </p:cNvPr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 1 · 06 · SUBAGENTS AND AGENT TEAMS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F3A10A-ABB9-3449-03D2-98D8A7A83EBF}"/>
              </a:ext>
            </a:extLst>
          </p:cNvPr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Agent Teams: several Claudes coordinating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2815B85-1E66-F07E-E8C4-BCF5AD623A6E}"/>
              </a:ext>
            </a:extLst>
          </p:cNvPr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9D23D4-2CE1-8A2D-4E18-ECE73B85D37F}"/>
              </a:ext>
            </a:extLst>
          </p:cNvPr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Claude Code · Course / Workshop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96997B-B88D-4C1F-6A97-7E31D4373D01}"/>
              </a:ext>
            </a:extLst>
          </p:cNvPr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16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2E047FE3-F06A-A831-7182-18CA8413D426}"/>
              </a:ext>
            </a:extLst>
          </p:cNvPr>
          <p:cNvSpPr/>
          <p:nvPr/>
        </p:nvSpPr>
        <p:spPr>
          <a:xfrm>
            <a:off x="640080" y="5806440"/>
            <a:ext cx="82296" cy="475488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408" y="750198"/>
            <a:ext cx="11594592" cy="5648647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 2 · 08 · THE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dirty="0">
                <a:solidFill>
                  <a:srgbClr val="E8EAED"/>
                </a:solidFill>
                <a:latin typeface="Segoe UI"/>
              </a:rPr>
              <a:t>A </a:t>
            </a:r>
            <a:r>
              <a:rPr sz="3000" b="1" dirty="0" err="1">
                <a:solidFill>
                  <a:srgbClr val="E8EAED"/>
                </a:solidFill>
                <a:latin typeface="Segoe UI"/>
              </a:rPr>
              <a:t>example</a:t>
            </a:r>
            <a:r>
              <a:rPr sz="3000" b="1" dirty="0">
                <a:solidFill>
                  <a:srgbClr val="E8EAED"/>
                </a:solidFill>
                <a:latin typeface="Segoe UI"/>
              </a:rPr>
              <a:t> real, </a:t>
            </a:r>
            <a:r>
              <a:rPr lang="en-GB" sz="3000" b="1" dirty="0" err="1">
                <a:solidFill>
                  <a:srgbClr val="E8EAED"/>
                </a:solidFill>
                <a:latin typeface="Segoe UI"/>
              </a:rPr>
              <a:t>Architecture</a:t>
            </a:r>
            <a:r>
              <a:rPr lang="en-GB" sz="3000" b="1" dirty="0">
                <a:solidFill>
                  <a:srgbClr val="E8EAED"/>
                </a:solidFill>
                <a:latin typeface="Segoe UI"/>
              </a:rPr>
              <a:t> </a:t>
            </a:r>
            <a:r>
              <a:rPr lang="en-GB" sz="3000" b="1" dirty="0" err="1">
                <a:solidFill>
                  <a:srgbClr val="E8EAED"/>
                </a:solidFill>
                <a:latin typeface="Segoe UI"/>
              </a:rPr>
              <a:t>Application</a:t>
            </a:r>
            <a:endParaRPr sz="3000" b="1" dirty="0">
              <a:solidFill>
                <a:srgbClr val="E8EAED"/>
              </a:solidFill>
              <a:latin typeface="Segoe U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Claude Code · Course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23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927080" cy="566928"/>
          </a:xfrm>
          <a:prstGeom prst="roundRect">
            <a:avLst>
              <a:gd name="adj" fmla="val 10000"/>
            </a:avLst>
          </a:prstGeom>
          <a:solidFill>
            <a:srgbClr val="222B38"/>
          </a:solidFill>
          <a:ln w="952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1051560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Segoe UI"/>
              </a:rPr>
              <a:t>QA bug: </a:t>
            </a:r>
            <a:r>
              <a:rPr sz="1250" b="0">
                <a:solidFill>
                  <a:srgbClr val="E8EAED"/>
                </a:solidFill>
                <a:latin typeface="Segoe UI"/>
              </a:rPr>
              <a:t>“a field shows empty in the UI, but it's written in the PDF.”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542032"/>
            <a:ext cx="10927080" cy="438912"/>
          </a:xfrm>
          <a:prstGeom prst="roundRect">
            <a:avLst>
              <a:gd name="adj" fmla="val 12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40080" y="2542032"/>
            <a:ext cx="73152" cy="438912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2578608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Orient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578608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8EAED"/>
                </a:solidFill>
                <a:latin typeface="Segoe UI"/>
              </a:rPr>
              <a:t>/kg surfaces the danger zone (a SHARP_EDGE constraining the fix); git/gh give the baseline.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054096"/>
            <a:ext cx="10927080" cy="438912"/>
          </a:xfrm>
          <a:prstGeom prst="roundRect">
            <a:avLst>
              <a:gd name="adj" fmla="val 12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40080" y="3054096"/>
            <a:ext cx="73152" cy="438912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3090672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Contract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3090672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8EAED"/>
                </a:solidFill>
                <a:latin typeface="Segoe UI"/>
              </a:rPr>
              <a:t>The field is empty in the endpoint JSON (Playwright/F12) → the Lambda is responsible.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566160"/>
            <a:ext cx="10927080" cy="438912"/>
          </a:xfrm>
          <a:prstGeom prst="roundRect">
            <a:avLst>
              <a:gd name="adj" fmla="val 12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40080" y="3566160"/>
            <a:ext cx="73152" cy="438912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3602736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Provenance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3602736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8EAED"/>
                </a:solidFill>
                <a:latin typeface="Segoe UI"/>
              </a:rPr>
              <a:t>Re-extract on the previous base: already empty → pre-existing, not a regression.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078224"/>
            <a:ext cx="10927080" cy="438912"/>
          </a:xfrm>
          <a:prstGeom prst="roundRect">
            <a:avLst>
              <a:gd name="adj" fmla="val 12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40080" y="4078224"/>
            <a:ext cx="73152" cy="438912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8680" y="41148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Investigate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411480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8EAED"/>
                </a:solidFill>
                <a:latin typeface="Segoe UI"/>
              </a:rPr>
              <a:t>Serena + CodeGraph locate the detector; a deterministic _diag_pdf.py gives the cause: NO LLM.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4590288"/>
            <a:ext cx="10927080" cy="438912"/>
          </a:xfrm>
          <a:prstGeom prst="roundRect">
            <a:avLst>
              <a:gd name="adj" fmla="val 12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40080" y="4590288"/>
            <a:ext cx="73152" cy="438912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68680" y="4626864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Fix + verify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0" y="4626864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8EAED"/>
                </a:solidFill>
                <a:latin typeface="Segoe UI"/>
              </a:rPr>
              <a:t>RED test → structural fix (not client) → no-op regression + local contract (wrapper) + inside the deployed image.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5102352"/>
            <a:ext cx="10927080" cy="438912"/>
          </a:xfrm>
          <a:prstGeom prst="roundRect">
            <a:avLst>
              <a:gd name="adj" fmla="val 12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640080" y="5102352"/>
            <a:ext cx="73152" cy="438912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68680" y="5138928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Handoff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0" y="5138928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8EAED"/>
                </a:solidFill>
                <a:latin typeface="Segoe UI"/>
              </a:rPr>
              <a:t>Sanitize → the human does push/PR. A bot catches one more case → test + PLAYBOOK.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5806440"/>
            <a:ext cx="10927080" cy="475488"/>
          </a:xfrm>
          <a:prstGeom prst="roundRect">
            <a:avLst>
              <a:gd name="adj" fmla="val 28000"/>
            </a:avLst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640080" y="5806440"/>
            <a:ext cx="82296" cy="475488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The model doesn't earn trust for free: it earns it decision by decision, with evidence.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358" y="1387551"/>
            <a:ext cx="11308842" cy="541331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