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3" r:id="rId44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94" r:id="rId45"/>
    <p:sldId id="272" r:id="rId23"/>
    <p:sldId id="273" r:id="rId24"/>
    <p:sldId id="274" r:id="rId25"/>
    <p:sldId id="275" r:id="rId26"/>
    <p:sldId id="276" r:id="rId27"/>
    <p:sldId id="295" r:id="rId46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COURSE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from assistant to </a:t>
            </a:r>
            <a:r>
              <a:rPr sz="2600" b="1">
                <a:solidFill>
                  <a:srgbClr val="E8EAED"/>
                </a:solidFill>
                <a:latin typeface="Segoe UI"/>
              </a:rPr>
              <a:t>agentic development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Claude Code: install · memory · context &amp; caching · MCP · skills · subagents &amp; teams · automation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methodology (agnostic): workflow with gates · CodeGraph / Serena / GSD · transfer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ticket knowledge graph, built with graphify: pipeline, /kg commands and the real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Based on the official docs (code.claude.com), Anthropic's hooks course, GSD, CodeGraph and a real production install.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One course, three parts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 1 · Claude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Install and basic 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Memory, instructions and sessions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Context: context window and prompt caching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connect your tools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42816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Plugins, tools and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 and Agent Teams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 2 · The methodology (agnostic)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The 11-stage workflow + real example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The method's tools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 the methodology (Copilot)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Machine sync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 3 · The ticket graph (graphify)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Design · pipeline · /kg commands · the real graph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Closing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The tool: from the binary in your terminal to agent teams.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Install and basic use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Memory and sessions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 and prompt caching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Plugins, tools and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 and Agent Teams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221224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01 · INSTALL AND BASIC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Install is one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(recommended)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with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to update).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or the PowerShell installer.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apt / dnf / apk on Debian, Fedora, RHEL, Alpine.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6667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Start in any project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977639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16052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your-project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           # login the 1st time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666744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3867911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same engine in all parts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325112"/>
            <a:ext cx="4754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Desktop (diffs, sessions in parallel)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(claude.ai/code, tasks long)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Installing is trivial; the value is in how you use it.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01 · INSTALL AND BASIC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Two modes: interactive and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Interactive — thinking with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You open `claude` and talk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it proposes a plan and you approve before touching anything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for exploring, designing, debugging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composable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One prompt: in via stdin, out via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Fits Unix pipes and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foundation of all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same Claude, two ways to invoke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"flag any anomalies you see"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"review these files for security"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MEMORY AND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the two-tier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Tier 1 — always loaded (small)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Minimal orientation: what the project is, repo map, commands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Only one-line POINTERS to everything else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It's the agent's 30s onboarding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Write-once rule: the core points, doesn't copy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Tier 2 — on demand (the detail)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live state per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debugging lessons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'do not touch' invariants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self-contained ledgers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We cut CLAUDE.md ~73% with no information loss: pointers, not copies.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INSTRUCTIONS, PERMISSIONS AND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Hierarchy, permissions and automatic memory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CLAUDE.md hierarchy (they combine; @file imports)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user global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shared (versioned)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on entering the subfolder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not versioned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Permissions = specific allowlist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Concrete rules, not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exact pytest…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stores learnings (build commands, debug hints) across sessions without you writing anything.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SESSIONS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Sessions that travel across surfaces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brings a web/mobile session to the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Follow a local session from your phone or any browser.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hands the session to Desktop to review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Push external events or turn a Slack bug into a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same engine and the same CLAUDE.md/settings/MCP across all surfaces.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the resource that governs everything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~4,200 tokens — hidden, always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fixed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59152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Auto-memory + environment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~680 + ~280 tokens at startup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fixed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889504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MCP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index ~120 tokens; the schema, on tool 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per server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419856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Your CLAUDE.md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whatever you decide — hence the two-tier pattern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you decide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950208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Conversation + tool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files read, command output… grows every 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grows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controls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214884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1" y="2331720"/>
            <a:ext cx="3246120" cy="2011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/context   # usage breakdown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/compact focus on the API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/clear     # reset between tasks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/rewind    # checkpoints (Esc+Esc)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Window: 200K tokens (1M in beta via API). </a:t>
            </a:r>
            <a:r>
              <a:rPr sz="1200" b="0">
                <a:solidFill>
                  <a:srgbClr val="9AA4B2"/>
                </a:solidFill>
                <a:latin typeface="Segoe UI"/>
              </a:rPr>
              <a:t>Performance degrades BEFORE it fills: noisy context = worse decisions. Auto-compact fires near the limit and is lossy — better a focused manual /compact.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Measure with /context before optimizing: it tells you exactly which block bloats.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hygiene: maximum signal per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Minimal CLAUDE.md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Official rule: if you can delete it without Claude going wrong, delete it. Two tiers + pointers.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Loads on 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@imports and subfolder CLAUDE.md load only when needed. Detail lives outside.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in moderation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Each server adds its tools block. Disable the ones the project doesn't 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for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Dirty exploration goes to a subagent (section 06); only the summary returns.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Explore → Plan →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Separates exploration (plan mode) from implementation; the noise doesn't move in.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Targeted reads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“read config/auth.js” &gt; “understand the auth”. Preview: CodeGraph-first (Part 2).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 2's tool precedence is, at bottom, context policy.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don't pay for the same thing twice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Every turn resends ALL context. The API caches the stable prefix — strict order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a change invalidates its level and all after.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(default)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write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read 0.1×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2608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write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read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A 50-turn session re-reads the prefix 50 times at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that's the discount that makes long sessions viable.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Cacheable minimum ~1k tokens · max 4 breakpoints · diagnosis in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Stable first; the breakpoint at the end of the stable part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377440"/>
            <a:ext cx="5349240" cy="26517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OUTSIDE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classic mistake: timestamp BEFORE the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and nobody knows why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Runnable demo: ejemplos/prompt-caching/cache_demo.py — watch the cache counters.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 in Claude Code: you decide the hit-rate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874519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39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Small, stable CLAUDE.md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39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Short prefix that never changes → hits every turn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96312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496312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Editing CLAUDE.md/settings mid-session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Change the prefix → invalidates cache from there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181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118104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Many active MCP servers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Large, changing tools block → expensive writes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39896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739896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5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Long session, frequent turns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5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History is re-read at 0.1× — the ideal case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61688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4361688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7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/compact or auto-compact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7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Rewrites history → breaks the message cache once, then continues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Claude Code doesn't expose cache_control: it applies it for you (system + tools + history = prefix). Your decisions on the previous slide set the hit-rate.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Lean, stable context performs better AND costs less: two tiers optimize both axes at once.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connect your world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Open standard to plug Claude into external data and tools. Tools appear as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Local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only you, this machine.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Project 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at the root, versioned, shared with the team.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User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all your projects.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I use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Add a server (secrets via env var; each server adds context — section 03)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status      /mcp   # OAuth auth and tools in-session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05 · PLUGINS, TOOLS AND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Four layers of extensibility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What Claude can do: Read/Edit/Bash/Grep/Task + mcp__*. Governed by permissions.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The body is the prompt. You invoke 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with description. Claude auto-selects it; carries scripts/templates.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Bundle skills+commands+agents+MCP+hooks. /plugin install. GSD is 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The 5th layer — subagents and agent teams — deserves its own section: it's next.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shortcut you invoke. Skill = capability Claude decides to use. Plugin = the distribution.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 AND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noise dies outside your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Built-ins (Task tool)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Explore — read-only search across the codebase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— design the strategy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general-purpose — multi-step, all tools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 parallel for independent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Custom: a .md with frontmatter (/agents lists them)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377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.claude/agents/security-reviewer.md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security-reviewer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Reviews vulnerabilities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after changes to auth or deps.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tools: Read, Grep, Glob, Bash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model: opus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You are a senior security engineer…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77639"/>
            <a:ext cx="534924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78807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you need to know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7"/>
            <a:ext cx="484632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ISOLATED context: only the summary returns to your session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Does NOT inherit your conversation: context in the 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description = auto-selection · tools = own allowlist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Real examples in ejemplos/subagents/: security-reviewer and refactor-scout (CodeGraph→Serena rule).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 AND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several Claudes coordinating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architecture (experimental)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Lead + teammates: each one a full SESSION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Shared task list: ~/.claude/tasks/&lt;team&gt;/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Direct messaging between teammates (inboxes)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They can debate findings, not just report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= your custom subagents reused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Enable (off by default)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~/.claude/settings.json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{ "env": { "CLAUDE_CODE_EXPERIMENTAL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_AGENT_TEAMS": "1" 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"teammateMode": "in-process" }  // tmux|iterm2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349240" cy="1645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Limits today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in-process /resume · one team per session · no nesting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Split-panes require tmux or iTerm2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Cost: each teammate is a full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You ask in natural language: </a:t>
            </a:r>
            <a:r>
              <a:rPr sz="1150" b="0">
                <a:solidFill>
                  <a:srgbClr val="E8EAED"/>
                </a:solidFill>
                <a:latin typeface="Segoe UI"/>
              </a:rPr>
              <a:t>“set up a team with one architect and two implementers; require plan approval before touching code”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Partition the files: each teammate owns theirs.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 AND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 or team? The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AGENT TEAM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40280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Isolated; returns a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Each teammate = full session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07208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Communication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Result only → 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Task list + messages between teammates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374136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Low (costly work dies outside)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High (N sessions in parallel)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41064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Use it for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investigate, verify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Real parallelism: multi-layer review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07992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Nothing, or .claude/agents/*.md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Experimental env var + settings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Bridge to Part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packages exactly this — gsd-planner, gsd-executor, gsd-verifier are custom subagents as a plugin (this project uses the data/changes/ flow, not GSD — see Part 2).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so noise dies outside; team so several Claudes can debate. The cost is not the same.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07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deterministic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A hook's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 payload via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on the tool 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allows · exit 2 BLOCKS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intent (tool_input) · Post = result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Blocking pattern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console.error("Blocked: don't read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With instructions you ask for good behavior; with a hook you guarantee it.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07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hooks to scheduled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Security (.env), formatting (prettier), blocking type-check, 'AI reviewing AI' via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in any Unix pipe or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on every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Anthropic infra) · Desktop tasks · /loop.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80390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Agent SDK — custom workflows (least privilege)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1430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297680"/>
            <a:ext cx="10469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query } from "@anthropic-ai/claude-agent-sdk";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m of query({ prompt, options: { allowedTools: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if (m.type === "result") console.log(m.result);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Tool-agnostic: demonstrated with Claude Code, but the discipline travels.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The 11-stage workflow + real example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The method's tools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 to another agent (Copilot)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Machine sync: transport and sharing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agent is a disciplined collaborator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“Autonomy is earned per-decision, not granted wholesale.”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agent owns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Investigation and diagnosis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Plans and implementation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and documentation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human owns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Go/no-go decisions and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Every external action: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Agnostic: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not a Claude Code workflow — a way of working with ANY agent. Section 10 proves it by transferring it to GitHub Copilot.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doesn't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11-stage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Orient: /kg + history-first +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Inbound triage: symptom in the contract?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Regression vs. pre-existing (prove it)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Investigate: cheap deterministic oracle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→ explicit human agreement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Implement: TDD RED → GREEN, minimal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Verify: 5 checks (instrument → contract → image)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 — each thing once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Sanitize — added lines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the human does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Bot review + persist lessons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477256"/>
            <a:ext cx="10927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■ </a:t>
            </a:r>
            <a:r>
              <a:rPr sz="1050" b="0">
                <a:solidFill>
                  <a:srgbClr val="9AA4B2"/>
                </a:solidFill>
                <a:latin typeface="Segoe UI"/>
              </a:rPr>
              <a:t>Coral = GATE (STOP: don't write code).   </a:t>
            </a:r>
            <a:r>
              <a:rPr sz="1050" b="1">
                <a:solidFill>
                  <a:srgbClr val="E8EAED"/>
                </a:solidFill>
                <a:latin typeface="Segoe UI"/>
              </a:rPr>
              <a:t>Stage 7, the 5 checks: </a:t>
            </a:r>
            <a:r>
              <a:rPr sz="1050" b="0">
                <a:solidFill>
                  <a:srgbClr val="9AA4B2"/>
                </a:solidFill>
                <a:latin typeface="Segoe UI"/>
              </a:rPr>
              <a:t>instrument · contract (wrapper) · members, not totals · image · look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agent orchestrates and hosts the inference; cost concentrates in plan/code/verify, not in searching.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 real example,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QA bug: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“a field shows empty in the UI, but it's written in the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surfaces the danger zone (a SHARP_EDGE constraining the fix); git/gh give the baseline.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The field is empty in the endpoint JSON (Playwright/F12) → the Lambda is responsible.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Re-extract on the previous base: already empty → pre-existing, not a regression.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locate the detector; a deterministic _diag_pdf.py gives the cause: NO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RED test → structural fix (not client) → no-op regression + local contract (wrapper) + inside the deployed image.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Sanitize → the human does push/PR. A bot catches one more case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doesn't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Which tool the agent uses, and when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CLAUDE.md rule: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FIRST (survey in 1 call) · Serena find_referencing_symbols for the precise check before renaming.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Order: cheap → expensive, deterministic → probabilistic.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/kg (ticket graph → danger zone)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Navigate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— source + paths + blast radius +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call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— disambiguates by class (before renaming)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3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Deterministic oracle: parser / validator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Environment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Output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/ F12 on the endpoint the consumer sees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Only at the 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The LLM call — to VERIFY the fix, not to diagnose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Each tool in one sentence — and its 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Graph of the CODE (tree-sitter→SQLite, local). Survey in 1 call: source + callers + blast radius + coverage.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Semantic navigation via LSP. find_referencing_symbols disambiguates by class: the precise check before renaming.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plan/execute/verify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The method productized (gsd-* subagents + .planning/). For multi-phase greenfield; this project uses data/changes/, not GSD.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/kg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Ticket graph → orient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Graph of the project's MEMORY (with graphify): tickets + sharp edges. History-first, no LLM (Part 3).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→ triage and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the symptom where the consumer sees it: the real endpoint, not an internal function.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Oracles → diagnose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Your own parsers/validators/_diag_*.py: a cheap, reproducible answer before spending the LLM call.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classic inversion — the model diagnoses — is what this order avoids: the model verifies; the oracles diagnose.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the methodology productized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Phase-based cycle, state versioned in .planning/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623560" cy="29260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16636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/gsd-new-project  -&gt; PROJECT.md + ROADMAP.md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/gsd-plan-phase   -&gt; PLAN.md  (+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gsd-plan-checker)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/gsd-execute-phase-&gt; parallel waves,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atomic commits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/gsd-verify-work  -&gt; VERIFICATION.md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/gsd-progress     # what's next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00784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901952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Specialized subagents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359152"/>
            <a:ext cx="45720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gsd-planner — breakdown + dependencies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gsd-plan-checker — will it meet the goal? (goal-backward)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gsd-executor — atomic commits, checkpoints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gsd-code-reviewer — REVIEW.md by severity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gsd-verifier — verifies the GOAL, not just tasks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10927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Do we use it here? No: </a:t>
            </a:r>
            <a:r>
              <a:rPr sz="1150" b="0">
                <a:solidFill>
                  <a:srgbClr val="9AA4B2"/>
                </a:solidFill>
                <a:latin typeface="Segoe UI"/>
              </a:rPr>
              <a:t>this project runs the 11-stage workflow + data/changes/, more refined for per-ticket fixes. GSD fits a multi-component greenfield (roadmap → phases). Here it illustrates Part 1: custom subagents + skills as a plugin.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method, productized: GSD for multi-phase greenfield; here, data/changes/ tuned to per-ticket fixes.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local code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Tree-sitter index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Symbols: functions, classes, routes, components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Edges: calls, imports, inheritance, references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Deterministic (from the AST), no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Returns: source + paths + blast radius +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 (install --location=global writes the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5544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creates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after edits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"&lt;symbol|question&gt;"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serve --path &lt;repo&gt; --mcp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13632"/>
            <a:ext cx="4937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First for navigation:  </a:t>
            </a:r>
            <a:r>
              <a:rPr sz="1100" b="0">
                <a:solidFill>
                  <a:srgbClr val="E8EAED"/>
                </a:solidFill>
                <a:latin typeface="Segoe UI"/>
              </a:rPr>
              <a:t>source + callers + blast radius + coverage in 1 query (treat it as ALREADY read). Serena find_referencing_symbols = precise check (disambiguates by class). --path sets the default repo.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fewer tool calls · 22% faster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(per its benchmarks: nearly eliminates file reads)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query instead of grep→open→follow-import→repeat. Less context, more signal.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semantic navigation, precise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Semantic navigation via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Operates on SYMBOLS, not text: IDE precision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one method from a 5k-line file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a file's skeleton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who references, BY CLASS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Install (stdio)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serena -- uvx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--from git+https://github.com/oraios/serena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serena start-mcp-server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576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Why it's MANDATORY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CodeGraph's flat impact mixes same-name methods (Invoice.process vs Refund.process); Serena disambiguates them by class. Complementary, not rivals.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The refactor-scout subagent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(ejemplos/subagents/) packages the CodeGraph → Serena → grep order as a procedure.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answers 'what breaks?'; Serena answers 'exactly who calls THIS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10 ·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Proof it's agnostic: taking it to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Travels UNCHANGED (the 5 rules)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agreement → implement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Verify against the CONSUMER's contract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Solve the general class, not one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Durable trail: why, what, how it was verified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the external (merge, deploy)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Re-mapped per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contract: HTTP / DB / event / artifact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tracker: Jira · Azure Boards · Issues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test pyramid and the deployed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local sanitization rules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tools: Serena/CodeGraph//kg are fungible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26280"/>
            <a:ext cx="10927080" cy="1143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starter-kit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STATUS · SHARP_EDGES · handover · QA templates + bootstrap-new-repo.ps1 → structure in the target repo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Without the ticket graph: deterministic fallback (STATUS newest-first + lexical search + commit history) = 80% of the 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If you keep only five rules, keep these five. Tools get swapped; the discipline travels.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Machine sync (A): transport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full copy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One tarball: workspace + ~/.claude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dereferences the .aws symlink (critical)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Excludes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manual mount in WSL + byte-for-byte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 target: bootstrap (/kg) + target-setup.sh rebuild the tooling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delta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code is already on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Gitignored docs in data/ + memory (snapshot-memory) travel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 the main one: restore-memory → /kg-refresh rebuilds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of STATUS.md; STOP if it had manual edits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07408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An agent drives the landing — with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59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Non-destructive only (rename, don't delete) · git fetch = only network op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does push / merge; the agent prepares and reports with evidence (counts,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methodology isn't just for code: durable memory, guardrails and 'the human does the external' in ops too.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Machine sync (B): sharing over S3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55648"/>
            <a:ext cx="10927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The tarball solves </a:t>
            </a:r>
            <a:r>
              <a:rPr sz="1200" b="1">
                <a:solidFill>
                  <a:srgbClr val="E8EAED"/>
                </a:solidFill>
                <a:latin typeface="Segoe UI"/>
              </a:rPr>
              <a:t>transport</a:t>
            </a:r>
            <a:r>
              <a:rPr sz="1200" b="0">
                <a:solidFill>
                  <a:srgbClr val="9AA4B2"/>
                </a:solidFill>
                <a:latin typeface="Segoe UI"/>
              </a:rPr>
              <a:t> between YOUR machines. It doesn't solve </a:t>
            </a:r>
            <a:r>
              <a:rPr sz="1200" b="1">
                <a:solidFill>
                  <a:srgbClr val="E8EAED"/>
                </a:solidFill>
                <a:latin typeface="Segoe UI"/>
              </a:rPr>
              <a:t>sharing</a:t>
            </a:r>
            <a:r>
              <a:rPr sz="1200" b="0">
                <a:solidFill>
                  <a:srgbClr val="9AA4B2"/>
                </a:solidFill>
                <a:latin typeface="Segoe UI"/>
              </a:rPr>
              <a:t>: the record is gitignored → it can't be linked from a ticket, and each person ends up with their own private index of the same history.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04288"/>
            <a:ext cx="5349240" cy="2057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054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rules that make it safe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Narrow scope: docs + graph. No client data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 via sync · read via READ-ONLY mount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Dry-run by default; explicit --go; --delete separate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Bucket versioning = recovery net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04288"/>
            <a:ext cx="5349240" cy="2057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5054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Source of truth vs. derived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962656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rule; the graph is DERIVED from them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Per-ticket files almost never collide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graph is the only real contention point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→ rebuild locally, or ONE single publisher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71416"/>
            <a:ext cx="10927080" cy="120700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672583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agent-specific part: the machine has a 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29783"/>
            <a:ext cx="10424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Several machines, different permissions → the session must know WHERE it is before acting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MACHINE_NAME / MACHINE_ROLE → IDENTITY.md (machine-local) ← CLAUDE.md points at 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A writable mount over object storage isn't a convenience: it's corruption you discover weeks later.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ticket 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 complete case built with graphify — not CodeGraph: the project's memory, navigable.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The problem and the design (spike)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and commands (/kg, /kg-refresh)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The real graph, visualized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Usage and hook into the methodology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12A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problem, and why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files of writeups, sharp edges, runbooks,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 'new' bug almost always has prior context constraining the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Finding it by hand = remembering it exists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graph makes it EXPLICIT and queryable in 1 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corpus: manifest, not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DIFFABLE: ~116 files, ~196k words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sst-* writeups (+ deterministic fallback) · hubs · runbooks ·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Hard exclusions: binaries, repeated handovers, stale copies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Density without new knowledge = noise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27080" cy="1234440"/>
          </a:xfrm>
          <a:prstGeom prst="roundRect">
            <a:avLst>
              <a:gd name="adj" fmla="val 8000"/>
            </a:avLst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The technology is graphify — CodeGraph is just the analogy.  </a:t>
            </a:r>
            <a:r>
              <a:rPr sz="1150" b="0">
                <a:solidFill>
                  <a:srgbClr val="E8EAED"/>
                </a:solidFill>
                <a:latin typeface="Segoe UI"/>
              </a:rPr>
              <a:t>Same role (queryable graph before touching anything), different domain (tickets, not code), different tool. Phase 1 was a SPIKE with a keep/extend/replace decision: validate off-the-shelf graphify before investing in custom extraction. It sufficed — and it stayed.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Full material (design, scripts, tests, real output):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12B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and commands built in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/kg-refresh)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9659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OUTSIDE the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/graphify &lt;scratch&gt;     # ONLY step with LLM: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nodes+edges+clustering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pieces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and /kg-refresh — Claude Code skills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wraps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the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the bookends, TESTED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24528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The gotcha behind it: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honors .gitignore and all of data/ is ignored → running the detector in place finds 0 files. Hence the corpus is staged in a scratch outside the repo and artifacts are copied back.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That's why /kg-refresh is a skill, not a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semantic step (/graphify, subagents in parallel) is a Claude step; the bookends are deterministic.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with provenance: sst-5468__sst-5468.md, hub__STATUS.md, memory__x.md — each node traces to its source.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12C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graph: 507 nodes, 35 communities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69680" y="1783080"/>
            <a:ext cx="2697480" cy="31089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real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nodes · 672 edges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communities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(reliable)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files, ~196k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interactive graph.html: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node search, info panel, community filter (vis-network).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Communities map to real danger zones; the god-nodes are a free onboarding list.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12D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How it's used — and where it hooks 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Query: ZERO LLM (kg_query.sh reads graph.json)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8288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&lt;ticket|topic&gt; # neighbors (explain)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&lt;A&gt; &lt;B&gt;        # path      (path)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find &lt;substr&gt;  # exact node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/kg-refresh        # rebuild (cheap)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Where it hooks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Stage 1 (Orient) of the 11-stage workflow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history-first rule: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&lt;ticket|topic&gt; BEFORE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Points at WHAT to read; doesn't replace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Real example: /kg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the full danger zone instantly: the 5-6 tickets sharing that code.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Honesty and lifecycle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59" cy="91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in dense zones · EXTRACTED = reliable, INFERRED = hint · internal (data/) · derived: never travels, gets rebuilt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semantic step in the build, zero LLM in the query. The graph is the map; the agent, the guide.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assistant to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 1 · the tool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Install +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One line; two-tier CLAUDE.md; sessions that travel.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The budget and the discount: lean and stable wins both.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plugins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Connect your world; package and distribute workflows.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&amp; teams + automation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Scale the work; hooks that guarantee quality.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 2 + 3 · the method and the graph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11-stage workflow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Deterministic gates; the human owns the decisions.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method's tools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oracles: cheap→expensive; GSD = the method productized.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0080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Transferable, even to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Starter-kit proven on Copilot; machine-sync with guardrails.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0080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ticket graph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nodes · 35 communities: history-first, no LLM.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References:  code.claude.com/docs  ·  github.com/tomascortereal/claude-code-setup  ·  colbymchenry.github.io/codegraph  ·  github.com/oraios/serena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5" name="Rectangle 114">
            <a:extLst>
              <a:ext uri="{FF2B5EF4-FFF2-40B4-BE49-F238E27FC236}">
                <a16:creationId xmlns:a16="http://schemas.microsoft.com/office/drawing/2014/main" id="{928F64C6-FE22-4FC1-A763-DFCC51481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4261224" y="4577975"/>
            <a:ext cx="7539349" cy="1899827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1F85BB-65D7-0B6B-A637-312ABF202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03468" y="4741948"/>
            <a:ext cx="6829520" cy="862031"/>
          </a:xfrm>
        </p:spPr>
        <p:txBody>
          <a:bodyPr>
            <a:norm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Agentic Ai</a:t>
            </a:r>
            <a:br>
              <a:rPr lang="en-US" sz="1600" b="1">
                <a:solidFill>
                  <a:srgbClr val="FFFFFF"/>
                </a:solidFill>
              </a:rPr>
            </a:br>
            <a:br>
              <a:rPr lang="en-US" sz="1600" b="1">
                <a:solidFill>
                  <a:srgbClr val="FFFFFF"/>
                </a:solidFill>
              </a:rPr>
            </a:br>
            <a:r>
              <a:rPr lang="en-US" sz="1600" b="1">
                <a:solidFill>
                  <a:srgbClr val="FFFFFF"/>
                </a:solidFill>
              </a:rPr>
              <a:t>Claude Code: from assistant to agentic developing system</a:t>
            </a:r>
            <a:endParaRPr lang="en-GB" sz="1600">
              <a:solidFill>
                <a:srgbClr val="FFFFFF"/>
              </a:solidFill>
            </a:endParaRPr>
          </a:p>
        </p:txBody>
      </p:sp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36" y="444074"/>
            <a:ext cx="3797570" cy="1765870"/>
          </a:xfrm>
          <a:prstGeom prst="rect">
            <a:avLst/>
          </a:prstGeom>
        </p:spPr>
      </p:pic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922" y="2422097"/>
            <a:ext cx="2432184" cy="2013804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2549" y="480651"/>
            <a:ext cx="3793472" cy="3793484"/>
          </a:xfrm>
          <a:prstGeom prst="rect">
            <a:avLst/>
          </a:prstGeom>
        </p:spPr>
      </p:pic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5C34627B-48E6-4F4D-B843-97717A86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19934" y="5694097"/>
            <a:ext cx="5486400" cy="0"/>
          </a:xfrm>
          <a:prstGeom prst="line">
            <a:avLst/>
          </a:prstGeom>
          <a:ln w="1587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9" name="Picture 1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711" y="4525715"/>
            <a:ext cx="1866605" cy="2010551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0B591550-236E-C092-2595-79DBAAF3ABAD}"/>
              </a:ext>
            </a:extLst>
          </p:cNvPr>
          <p:cNvGrpSpPr/>
          <p:nvPr/>
        </p:nvGrpSpPr>
        <p:grpSpPr>
          <a:xfrm>
            <a:off x="8086176" y="737057"/>
            <a:ext cx="3797984" cy="3280672"/>
            <a:chOff x="8086176" y="737057"/>
            <a:chExt cx="3797984" cy="328067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BDF5EB6-DF3D-702D-7DAE-675423396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86176" y="737057"/>
              <a:ext cx="3797984" cy="328067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F4BD6C5-8DF2-E669-7A95-169D1F56A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218841" y="840007"/>
              <a:ext cx="1295581" cy="32389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>
            <a:extLst>
              <a:ext uri="{FF2B5EF4-FFF2-40B4-BE49-F238E27FC236}">
                <a16:creationId xmlns:a16="http://schemas.microsoft.com/office/drawing/2014/main" id="{EE30954D-B99B-5794-83DE-E304686660F1}"/>
              </a:ext>
            </a:extLst>
          </p:cNvPr>
          <p:cNvSpPr/>
          <p:nvPr/>
        </p:nvSpPr>
        <p:spPr>
          <a:xfrm>
            <a:off x="-82296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60B63D-C1F5-00FC-B7C0-84A9C5972257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7CE552-5271-A4ED-EF57-A2731E4BB67E}"/>
              </a:ext>
            </a:extLst>
          </p:cNvPr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 AND AGENT TEAMS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F3A10A-ABB9-3449-03D2-98D8A7A83EBF}"/>
              </a:ext>
            </a:extLst>
          </p:cNvPr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several Claudes coordinating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815B85-1E66-F07E-E8C4-BCF5AD623A6E}"/>
              </a:ext>
            </a:extLst>
          </p:cNvPr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9D23D4-2CE1-8A2D-4E18-ECE73B85D37F}"/>
              </a:ext>
            </a:extLst>
          </p:cNvPr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96997B-B88D-4C1F-6A97-7E31D4373D01}"/>
              </a:ext>
            </a:extLst>
          </p:cNvPr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E047FE3-F06A-A831-7182-18CA8413D426}"/>
              </a:ext>
            </a:extLst>
          </p:cNvPr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408" y="750198"/>
            <a:ext cx="11594592" cy="564864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dirty="0">
                <a:solidFill>
                  <a:srgbClr val="E8EAED"/>
                </a:solidFill>
                <a:latin typeface="Segoe UI"/>
              </a:rPr>
              <a:t>A real example: application architecture</a:t>
            </a:r>
            <a:endParaRPr sz="3000" b="1" dirty="0">
              <a:solidFill>
                <a:srgbClr val="E8EAED"/>
              </a:solidFill>
              <a:latin typeface="Segoe U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QA bug: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“a field shows empty in the UI, but it's written in the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surfaces the danger zone (a SHARP_EDGE constraining the fix); git/gh give the baseline.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The field is empty in the endpoint JSON (Playwright/F12) → the Lambda is responsible.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Re-extract on the previous base: already empty → pre-existing, not a regression.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locate the detector; a deterministic _diag_pdf.py gives the cause: NO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RED test → structural fix (not client) → no-op regression + local contract (wrapper) + inside the deployed image.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Sanitize → the human does push/PR. A bot catches one more case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doesn't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8" y="1387551"/>
            <a:ext cx="11308842" cy="54133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