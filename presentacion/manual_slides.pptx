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5" name="Rectangle 114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261224" y="4577975"/>
            <a:ext cx="7539349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F85BB-65D7-0B6B-A637-312ABF202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3468" y="4741948"/>
            <a:ext cx="6829520" cy="862031"/>
          </a:xfrm>
        </p:spPr>
        <p:txBody>
          <a:bodyPr>
            <a:norm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Agentic Ai</a:t>
            </a:r>
            <a:br>
              <a:rPr lang="en-US" sz="1600" b="1">
                <a:solidFill>
                  <a:srgbClr val="FFFFFF"/>
                </a:solidFill>
              </a:rPr>
            </a:br>
            <a:br>
              <a:rPr lang="en-US" sz="1600" b="1">
                <a:solidFill>
                  <a:srgbClr val="FFFFFF"/>
                </a:solidFill>
              </a:rPr>
            </a:br>
            <a:r>
              <a:rPr lang="en-US" sz="1600" b="1">
                <a:solidFill>
                  <a:srgbClr val="FFFFFF"/>
                </a:solidFill>
              </a:rPr>
              <a:t>Claude Code: from assistant to agentic developing system</a:t>
            </a:r>
            <a:endParaRPr lang="en-GB" sz="1600">
              <a:solidFill>
                <a:srgbClr val="FFFFFF"/>
              </a:solidFill>
            </a:endParaRPr>
          </a:p>
        </p:txBody>
      </p:sp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6" y="444074"/>
            <a:ext cx="3797570" cy="1765870"/>
          </a:xfrm>
          <a:prstGeom prst="rect">
            <a:avLst/>
          </a:prstGeom>
        </p:spPr>
      </p:pic>
      <p:pic>
        <p:nvPicPr>
          <p:cNvPr id="117" name="Picture 1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22" y="2422097"/>
            <a:ext cx="2432184" cy="2013804"/>
          </a:xfrm>
          <a:prstGeom prst="rect">
            <a:avLst/>
          </a:prstGeom>
        </p:spPr>
      </p:pic>
      <p:pic>
        <p:nvPicPr>
          <p:cNvPr id="118" name="Picture 1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549" y="480651"/>
            <a:ext cx="3793472" cy="3793484"/>
          </a:xfrm>
          <a:prstGeom prst="rect">
            <a:avLst/>
          </a:prstGeom>
        </p:spPr>
      </p:pic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19934" y="5694097"/>
            <a:ext cx="54864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711" y="4525715"/>
            <a:ext cx="1866605" cy="201055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B591550-236E-C092-2595-79DBAAF3ABAD}"/>
              </a:ext>
            </a:extLst>
          </p:cNvPr>
          <p:cNvGrpSpPr/>
          <p:nvPr/>
        </p:nvGrpSpPr>
        <p:grpSpPr>
          <a:xfrm>
            <a:off x="8086176" y="737057"/>
            <a:ext cx="3797984" cy="3280672"/>
            <a:chOff x="8086176" y="737057"/>
            <a:chExt cx="3797984" cy="328067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DF5EB6-DF3D-702D-7DAE-675423396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86176" y="737057"/>
              <a:ext cx="3797984" cy="328067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4BD6C5-8DF2-E669-7A95-169D1F56A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18841" y="840007"/>
              <a:ext cx="1295581" cy="3238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extLst>
              <a:ext uri="{FF2B5EF4-FFF2-40B4-BE49-F238E27FC236}">
                <a16:creationId xmlns:a16="http://schemas.microsoft.com/office/drawing/2014/main" id="{EE30954D-B99B-5794-83DE-E304686660F1}"/>
              </a:ext>
            </a:extLst>
          </p:cNvPr>
          <p:cNvSpPr/>
          <p:nvPr/>
        </p:nvSpPr>
        <p:spPr>
          <a:xfrm>
            <a:off x="-82296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60B63D-C1F5-00FC-B7C0-84A9C5972257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CE552-5271-A4ED-EF57-A2731E4BB67E}"/>
              </a:ext>
            </a:extLst>
          </p:cNvPr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1 · 06 · SUBAGENTS Y AGENT TEAMS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3A10A-ABB9-3449-03D2-98D8A7A83EBF}"/>
              </a:ext>
            </a:extLst>
          </p:cNvPr>
          <p:cNvSpPr txBox="1"/>
          <p:nvPr/>
        </p:nvSpPr>
        <p:spPr>
          <a:xfrm>
            <a:off x="621792" y="8412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EAED"/>
                </a:solidFill>
                <a:latin typeface="Segoe UI"/>
              </a:rPr>
              <a:t>Agent Teams: varios Claudes que se coordinan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815B85-1E66-F07E-E8C4-BCF5AD623A6E}"/>
              </a:ext>
            </a:extLst>
          </p:cNvPr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D23D4-2CE1-8A2D-4E18-ECE73B85D37F}"/>
              </a:ext>
            </a:extLst>
          </p:cNvPr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6997B-B88D-4C1F-6A97-7E31D4373D01}"/>
              </a:ext>
            </a:extLst>
          </p:cNvPr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16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047FE3-F06A-A831-7182-18CA8413D426}"/>
              </a:ext>
            </a:extLst>
          </p:cNvPr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8" y="750198"/>
            <a:ext cx="11594592" cy="56486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Segoe UI"/>
              </a:rPr>
              <a:t>PARTE 2 · 08 · LA 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dirty="0">
                <a:solidFill>
                  <a:srgbClr val="E8EAED"/>
                </a:solidFill>
                <a:latin typeface="Segoe UI"/>
              </a:rPr>
              <a:t>Un ejemplo real: arquitectura de la aplicación</a:t>
            </a:r>
            <a:endParaRPr sz="3000" b="1" dirty="0">
              <a:solidFill>
                <a:srgbClr val="E8EAED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1005840" cy="4114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6707E"/>
                </a:solidFill>
                <a:latin typeface="Segoe UI"/>
              </a:rPr>
              <a:t>Claude Code · Curso /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19088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66707E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927080" cy="566928"/>
          </a:xfrm>
          <a:prstGeom prst="roundRect">
            <a:avLst>
              <a:gd name="adj" fmla="val 10000"/>
            </a:avLst>
          </a:prstGeom>
          <a:solidFill>
            <a:srgbClr val="222B3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97757"/>
                </a:solidFill>
                <a:latin typeface="Segoe UI"/>
              </a:rPr>
              <a:t>Bug QA: </a:t>
            </a:r>
            <a:r>
              <a:rPr sz="1250" b="0">
                <a:solidFill>
                  <a:srgbClr val="E8EAED"/>
                </a:solidFill>
                <a:latin typeface="Segoe UI"/>
              </a:rPr>
              <a:t>“un campo sale vacío en la UI, pero está escrito en el PDF.”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4203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54203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786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Orientar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7860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/kg saca la zona de peligro (un SHARP_EDGE que restringe el fix); git/gh dan la 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54096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3054096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906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Contrato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06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El campo está vacío en el JSON del endpoint (Playwright/F12) → el Lambda es responsable.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0273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0273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Re-extraer en la base previa: ya salía vacío → pre-existente, no regresión.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78224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4078224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Investigar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Serena + CodeGraph localizan el detector; un _diag_pdf.py determinista da la causa: SIN LLM.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90288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" y="4590288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Fix + verificar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2686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Test RED → fix estructural (no cliente) → regresión no-op + contrato local (wrapper) + dentro de la imagen desplegada.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02352"/>
            <a:ext cx="10927080" cy="438912"/>
          </a:xfrm>
          <a:prstGeom prst="roundRect">
            <a:avLst>
              <a:gd name="adj" fmla="val 12000"/>
            </a:avLst>
          </a:prstGeom>
          <a:solidFill>
            <a:srgbClr val="1A212B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" y="5102352"/>
            <a:ext cx="73152" cy="43891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13892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7AA2C7"/>
                </a:solidFill>
                <a:latin typeface="Segoe UI"/>
              </a:rPr>
              <a:t>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1389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AED"/>
                </a:solidFill>
                <a:latin typeface="Segoe UI"/>
              </a:rPr>
              <a:t>Sanitizar → el humano hace push/PR. Un bot detecta un caso más → test + PLAYBOOK.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06440"/>
            <a:ext cx="10927080" cy="475488"/>
          </a:xfrm>
          <a:prstGeom prst="roundRect">
            <a:avLst>
              <a:gd name="adj" fmla="val 28000"/>
            </a:avLst>
          </a:prstGeom>
          <a:solidFill>
            <a:srgbClr val="222B38"/>
          </a:solidFill>
          <a:ln w="9525">
            <a:solidFill>
              <a:srgbClr val="2E3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0080" y="5806440"/>
            <a:ext cx="82296" cy="47548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833872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Segoe UI"/>
              </a:rPr>
              <a:t>“ </a:t>
            </a:r>
            <a:r>
              <a:rPr sz="1250" b="0">
                <a:solidFill>
                  <a:srgbClr val="E8EAED"/>
                </a:solidFill>
                <a:latin typeface="Segoe UI"/>
              </a:rPr>
              <a:t>El modelo no gana confianza gratis: la gana decisión a decisión, con evidencia.</a:t>
            </a:r>
            <a:r>
              <a:rPr sz="1300" b="1">
                <a:solidFill>
                  <a:srgbClr val="D97757"/>
                </a:solidFill>
                <a:latin typeface="Segoe UI"/>
              </a:rPr>
              <a:t> ”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" y="1387551"/>
            <a:ext cx="11308842" cy="5413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