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93" r:id="rId44"/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94" r:id="rId45"/>
    <p:sldId id="272" r:id="rId23"/>
    <p:sldId id="273" r:id="rId24"/>
    <p:sldId id="274" r:id="rId25"/>
    <p:sldId id="275" r:id="rId26"/>
    <p:sldId id="276" r:id="rId27"/>
    <p:sldId id="295" r:id="rId46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2801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CURSO / WORKSHOP · DEVELOPER TOOLING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10515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6000" b="1">
                <a:solidFill>
                  <a:srgbClr val="E8EAED"/>
                </a:solidFill>
                <a:latin typeface="Segoe UI"/>
              </a:rPr>
              <a:t>Claude Code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2600" b="0">
                <a:solidFill>
                  <a:srgbClr val="9AA4B2"/>
                </a:solidFill>
                <a:latin typeface="Segoe UI"/>
              </a:rPr>
              <a:t>de asistente a </a:t>
            </a:r>
            <a:r>
              <a:rPr sz="2600" b="1">
                <a:solidFill>
                  <a:srgbClr val="E8EAED"/>
                </a:solidFill>
                <a:latin typeface="Segoe UI"/>
              </a:rPr>
              <a:t>sistema de desarrollo agéntico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3840480"/>
            <a:ext cx="128016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069080"/>
            <a:ext cx="105156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D97757"/>
                </a:solidFill>
                <a:latin typeface="Segoe UI"/>
              </a:rPr>
              <a:t>PARTE 1 — </a:t>
            </a:r>
            <a:r>
              <a:rPr sz="1350" b="0">
                <a:solidFill>
                  <a:srgbClr val="9AA4B2"/>
                </a:solidFill>
                <a:latin typeface="Segoe UI"/>
              </a:rPr>
              <a:t>Claude Code: instalación · memoria · contexto &amp; caching · MCP · skills · subagents &amp; teams · automatización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7AA2C7"/>
                </a:solidFill>
                <a:latin typeface="Segoe UI"/>
              </a:rPr>
              <a:t>PARTE 2 — </a:t>
            </a:r>
            <a:r>
              <a:rPr sz="1350" b="0">
                <a:solidFill>
                  <a:srgbClr val="9AA4B2"/>
                </a:solidFill>
                <a:latin typeface="Segoe UI"/>
              </a:rPr>
              <a:t>La metodología (agnóstica): flujo con gates · CodeGraph / Serena / GSD · transferencia · ops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8CC28C"/>
                </a:solidFill>
                <a:latin typeface="Segoe UI"/>
              </a:rPr>
              <a:t>PARTE 3 — </a:t>
            </a:r>
            <a:r>
              <a:rPr sz="1350" b="0">
                <a:solidFill>
                  <a:srgbClr val="9AA4B2"/>
                </a:solidFill>
                <a:latin typeface="Segoe UI"/>
              </a:rPr>
              <a:t>El grafo de conocimiento de tickets, construido con graphify: pipeline, comandos /kg y el grafo real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126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6707E"/>
                </a:solidFill>
                <a:latin typeface="Segoe UI"/>
              </a:rPr>
              <a:t>Basado en la documentación oficial (code.claude.com), el curso de hooks de Anthropic, GSD, CodeGraph y una instalación real en producción.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Un curso, tres partes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5349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PARTE 1 · Claude Code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194560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231136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01  Instalación y uso básico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706624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743200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02  Memoria, instrucciones y sesiones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218688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255264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03  Contexto: context window y prompt caching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30752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767328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04  MCP — conectar tus herramientas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242816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279392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05  Plugins, tools y skills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754880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4791456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06  Subagents y Agent Teams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266944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5303520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07  Automatización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0" y="1783080"/>
            <a:ext cx="5349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PARTE 2 · La metodología (agnóstica)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2194560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46520" y="2231136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08  El flujo de 11 etapas + ejemplo real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2706624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2743200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09  Las herramientas del método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17920" y="3218688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46520" y="3255264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10  Transferir la metodología (Copilot)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17920" y="3730752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46520" y="3767328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11  Sincronización de máquinas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4343400"/>
            <a:ext cx="5349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PARTE 3 · El grafo de tickets (graphify)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17920" y="4754880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46520" y="4791456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12  Diseño · pipeline · comandos /kg · el grafo real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17920" y="5266944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46520" y="5303520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13  Cierre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Segoe UI"/>
              </a:rPr>
              <a:t>PARTE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E8EAED"/>
                </a:solidFill>
                <a:latin typeface="Segoe UI"/>
              </a:rPr>
              <a:t>Claude Code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2606040"/>
            <a:ext cx="128016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88920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9AA4B2"/>
                </a:solidFill>
                <a:latin typeface="Segoe UI"/>
              </a:rPr>
              <a:t>La herramienta: del binario en tu terminal a equipos de agentes.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520440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566160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01 · Instalación y uso básico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3520440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3566160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02 · Memoria y sesiones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4087368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4133087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03 · Contexto y prompt caching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4087368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9400" y="4133087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04 · MCP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4654296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4700016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05 · Plugins, tools y skills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4654296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29400" y="4700016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06 · Subagents y Agent Teams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" y="5221224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43000" y="5266944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07 · Automatización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01 · INSTALACIÓN Y USO BÁSICO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Instalar es una línea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41247" y="20756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209397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02082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Native (recomendado)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331720"/>
            <a:ext cx="4375404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curl -fsSL https://claude.ai/install.sh | bash — macOS/Linux/WSL, con auto-update.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1874519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32804" y="20756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09397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202082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Homebrew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331720"/>
            <a:ext cx="4375404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brew install --cask claude-code (brew upgrade para actualizar).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044952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1247" y="324612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7" y="326440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191256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Windows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502152"/>
            <a:ext cx="4375404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winget install Anthropic.ClaudeCode · o el instalador PowerShell.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1636" y="3044952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32804" y="324612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26440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191256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Linux pkg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502152"/>
            <a:ext cx="4375404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apt / dnf / apk en Debian, Fedora, RHEL, Alpine.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3666744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Arrancar en cualquier proyecto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3977639"/>
            <a:ext cx="5394960" cy="123444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2" y="4160520"/>
            <a:ext cx="4937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cd tu-proyecto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claude            # login la 1ª vez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3666744"/>
            <a:ext cx="5257800" cy="155448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3680" y="3867911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El mismo motor en todas partes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0" y="4325112"/>
            <a:ext cx="4754880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Terminal · VS Code / Cursor · JetBrains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Desktop (diffs, sesiones en paralelo)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Web (claude.ai/code, tareas largas)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Instalar es trivial; el valor está en cómo lo usas.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01 · INSTALACIÓN Y USO BÁSICO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Dos modos: interactivo y headless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5349240" cy="22860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7568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Interactivo — pensar contigo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32887"/>
            <a:ext cx="48463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Abres `claude` y conversas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 mode: propone un plan y tú lo apruebas antes de tocar nada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Ideal para explorar, diseñar, depurar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874519"/>
            <a:ext cx="5349240" cy="22860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7568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Headless (-p) — componible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32887"/>
            <a:ext cx="48463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Un prompt: entra por stdin, sale por stdout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Encaja en tuberías Unix y en CI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La base de toda la automatización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306824"/>
            <a:ext cx="10927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El mismo Claude, dos formas de invocarlo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617720"/>
            <a:ext cx="10927080" cy="100584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4800600"/>
            <a:ext cx="104698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tail -200 app.log | claude -p "avísame si ves anomalías"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git diff main --name-only | claude -p "revisa estos ficheros por seguridad"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02 · MEMORIA E INSTRUCCIONES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CLAUDE.md: el patrón de dos niveles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5349240" cy="27432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7568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Nivel 1 — siempre cargado (pequeño)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32887"/>
            <a:ext cx="484632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Orientación mínima: qué es el proyecto, mapa de repos, comandos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Solo PUNTEROS de una línea a todo lo demás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Es la onboarding de 30s del agente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Regla write-once: el core apunta, no copia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874519"/>
            <a:ext cx="5349240" cy="27432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7568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Nivel 2 — bajo demanda (el detalle)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32887"/>
            <a:ext cx="484632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data/changes/STATUS.md — estado vivo por ticket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PLAYBOOK.md — lecciones de debugging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SHARP_EDGES.md — invariantes 'no tocar'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&lt;TICKET&gt;/&lt;TICKET&gt;.md — ~55 ledgers autocontenidos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Recortamos el CLAUDE.md ~73% sin perder información: punteros, no copias.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02 · INSTRUCCIONES, PERMISOS Y AUTO-MEMORY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Jerarquía, permisos y memoria automática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55063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Jerarquía de CLAUDE.md (se combinan; @fichero importa)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965960"/>
            <a:ext cx="5486400" cy="201168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148840"/>
            <a:ext cx="502920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~/.claude/CLAUDE.md      # global usuario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&lt;repo&gt;/CLAUDE.md         # compartido (versionado)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&lt;repo&gt;/sub/CLAUDE.md     # al entrar en la subcarpeta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&lt;repo&gt;/CLAUDE.local.md   # personal, no versionado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1664208"/>
            <a:ext cx="5166360" cy="233172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0" y="1865376"/>
            <a:ext cx="4709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Permisos = allowlist específico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2322576"/>
            <a:ext cx="466344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settings.json: allow / deny / ask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Reglas concretas, no Bash(*)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mcp__serena__find_symbol, pytest exacto…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humano es dueño de push/PR/deploy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160520"/>
            <a:ext cx="10927080" cy="141732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361688"/>
            <a:ext cx="10469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Auto-memory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818888"/>
            <a:ext cx="10424159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Claude guarda aprendizajes (comandos de build, pistas de debug) entre sesiones sin que escribas nada.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02 · SESIONES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Sesiones que viajan entre superficies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965960"/>
            <a:ext cx="5335524" cy="10058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41247" y="216712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2185415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11226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Teleport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423160"/>
            <a:ext cx="437540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claude --teleport trae una sesión web/móvil al terminal.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1965960"/>
            <a:ext cx="5335524" cy="10058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32804" y="216712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185415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211226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Remote Control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423160"/>
            <a:ext cx="437540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Sigue una sesión local desde el móvil o cualquier navegador.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227832"/>
            <a:ext cx="5335524" cy="10058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1247" y="342900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7" y="344728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▣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74136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Desktop handoff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85032"/>
            <a:ext cx="437540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/desktop pasa la sesión al Desktop para revisar diffs.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1636" y="3227832"/>
            <a:ext cx="5335524" cy="10058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32804" y="342900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44728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74136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Channels / Slack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85032"/>
            <a:ext cx="437540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Empuja eventos externos o convierte un bug de Slack en un PR.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El mismo motor y los mismos CLAUDE.md/settings/MCP en todas las superficies.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03 · CONTEXTO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Context window: el recurso que gobierna todo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694944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65376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System prompt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186537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~4.200 tokens — oculto, siempre primero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20840" y="1865376"/>
            <a:ext cx="777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fijo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359152"/>
            <a:ext cx="694944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2395728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Auto-memory + entorno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2395728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~680 + ~280 tokens al arrancar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2395728"/>
            <a:ext cx="777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fijo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2889504"/>
            <a:ext cx="694944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2926080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Tools MCP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0" y="292608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índice ~120 tokens; el schema, al usar la tool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0840" y="2926080"/>
            <a:ext cx="777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por server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3419856"/>
            <a:ext cx="694944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3456432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Tu CLAUDE.md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91840" y="3456432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lo que tú decidas — por eso el patrón de dos niveles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3456432"/>
            <a:ext cx="777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tú decides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3950208"/>
            <a:ext cx="694944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3986784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Conversación + tool results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91840" y="3986784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ficheros leídos, output de comandos… crece cada turno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20840" y="3986784"/>
            <a:ext cx="777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crece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63840" y="1837944"/>
            <a:ext cx="3703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Los mandos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863840" y="2148840"/>
            <a:ext cx="3703320" cy="233172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19871" y="2331720"/>
            <a:ext cx="3246120" cy="20116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/context   # desglose de uso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/compact céntrate en la API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/clear     # reset entre tareas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/rewind    # checkpoints (Esc+Esc)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4617720"/>
            <a:ext cx="109270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8EAED"/>
                </a:solidFill>
                <a:latin typeface="Segoe UI"/>
              </a:rPr>
              <a:t>Ventana: 200K tokens (1M en beta vía API). </a:t>
            </a:r>
            <a:r>
              <a:rPr sz="1200" b="0">
                <a:solidFill>
                  <a:srgbClr val="9AA4B2"/>
                </a:solidFill>
                <a:latin typeface="Segoe UI"/>
              </a:rPr>
              <a:t>El rendimiento degrada ANTES de llenarla: contexto con ruido = peores decisiones. Auto-compact salta cerca del límite y es lossy — mejor /compact manual con foco.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Mide con /context antes de optimizar: te dice exactamente qué bloque engorda.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03 · CONTEXTO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Higiene de contexto: máxima señal por token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41247" y="202996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204825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197510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CLAUDE.md mínimo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286000"/>
            <a:ext cx="4375404" cy="576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Regla oficial: si puedes borrarlo sin que Claude se equivoque, bórralo. Dos niveles + punteros.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1828800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32804" y="202996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04825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197510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Carga bajo demanda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286000"/>
            <a:ext cx="4375404" cy="576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@imports y CLAUDE.md de subcarpeta solo cargan cuando tocan. El detalle vive fuera.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163824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1247" y="3364992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7" y="3383280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10128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MCP con moderación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21024"/>
            <a:ext cx="4375404" cy="576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Cada server suma su bloque de tools. Desactiva los que el proyecto no use.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1636" y="3163824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32804" y="3364992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383280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10128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Subagentes para investigar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21024"/>
            <a:ext cx="4375404" cy="576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La exploración sucia va a un subagente (sección 06); vuelve solo el resumen.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4498848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41247" y="4700016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7" y="4718304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63040" y="4645152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Explore → Plan → Code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3040" y="4956048"/>
            <a:ext cx="4375404" cy="576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Separa exploración (plan mode) de implementación; el ruido no se queda a vivir.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31636" y="4498848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432804" y="4700016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32804" y="4718304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4596" y="4645152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Lecturas con puntería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54596" y="4956048"/>
            <a:ext cx="4375404" cy="576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“lee config/auth.js” &gt; “entiende el auth”. Adelanto: CodeGraph-primero (Parte 2).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La prevalencia de tools de la Parte 2 es, en el fondo, política de contexto.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03 · CONTEXTO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Prompt caching: no pagar lo mismo dos veces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109270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9AA4B2"/>
                </a:solidFill>
                <a:latin typeface="Segoe UI"/>
              </a:rPr>
              <a:t>Cada turno reenvía TODO el contexto. La API cachea el prefijo estable — orden estricto </a:t>
            </a:r>
            <a:r>
              <a:rPr sz="1250" b="1">
                <a:solidFill>
                  <a:srgbClr val="D97757"/>
                </a:solidFill>
                <a:latin typeface="Consolas"/>
              </a:rPr>
              <a:t>Tools → System → Messages</a:t>
            </a:r>
            <a:r>
              <a:rPr sz="1250" b="0">
                <a:solidFill>
                  <a:srgbClr val="9AA4B2"/>
                </a:solidFill>
                <a:latin typeface="Segoe UI"/>
              </a:rPr>
              <a:t>: un cambio invalida su nivel y los siguientes.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377440"/>
            <a:ext cx="534924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423160"/>
            <a:ext cx="22860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TTL 5 min (defecto)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423160"/>
            <a:ext cx="1554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escribir 1.25×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2423160"/>
            <a:ext cx="10972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leer 0.1×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2926080"/>
            <a:ext cx="534924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971800"/>
            <a:ext cx="22860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TTL 1 hora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971800"/>
            <a:ext cx="1554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escribir 2×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2971800"/>
            <a:ext cx="10972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leer 0.1×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611880"/>
            <a:ext cx="53492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Una sesión de 50 turnos relee el prefijo 50 veces a 0.1× — </a:t>
            </a:r>
            <a:r>
              <a:rPr sz="1200" b="1">
                <a:solidFill>
                  <a:srgbClr val="8CC28C"/>
                </a:solidFill>
                <a:latin typeface="Segoe UI"/>
              </a:rPr>
              <a:t>ese es el descuento que hace viables las sesiones largas.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050" b="0">
                <a:solidFill>
                  <a:srgbClr val="9AA4B2"/>
                </a:solidFill>
                <a:latin typeface="Segoe UI"/>
              </a:rPr>
              <a:t>Mínimo cacheable ~1k tokens · máx. 4 breakpoints · diagnóstico en usage.cache_read_input_tokens.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2066544"/>
            <a:ext cx="5349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Lo estable primero; el breakpoint al final de lo estable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2377440"/>
            <a:ext cx="5349240" cy="265176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73952" y="2560320"/>
            <a:ext cx="4892040" cy="2331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system=[{ "type": "text",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"text": STABLE_INSTRUCTIONS,   # estable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"cache_control":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{"type": "ephemeral"} }]   # breakpoint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messages=[{"role": "user",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"content": query }]  # variable: FUERA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error clásico: timestamp ANTES del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breakpoint -&gt; 0 hits y nadie sabe por qué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Demo ejecutable: ejemplos/prompt-caching/cache_demo.py — mira los contadores de cache.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03 · CONTEXTO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Caching en Claude Code: tú decides el hit-rate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10927080" cy="530352"/>
          </a:xfrm>
          <a:prstGeom prst="roundRect">
            <a:avLst>
              <a:gd name="adj" fmla="val 10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" y="1874519"/>
            <a:ext cx="73152" cy="530352"/>
          </a:xfrm>
          <a:prstGeom prst="roundRect">
            <a:avLst>
              <a:gd name="adj" fmla="val 50000"/>
            </a:avLst>
          </a:prstGeom>
          <a:solidFill>
            <a:srgbClr val="8CC2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920239"/>
            <a:ext cx="420624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CLAUDE.md pequeño y estable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1920239"/>
            <a:ext cx="62179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Prefijo corto que nunca cambia → hits en cada turno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496312"/>
            <a:ext cx="10927080" cy="530352"/>
          </a:xfrm>
          <a:prstGeom prst="roundRect">
            <a:avLst>
              <a:gd name="adj" fmla="val 10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40080" y="2496312"/>
            <a:ext cx="73152" cy="53035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542032"/>
            <a:ext cx="420624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Editar CLAUDE.md/settings a mitad de sesión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2542032"/>
            <a:ext cx="62179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Cambia el prefijo → invalida el cache desde ahí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118104"/>
            <a:ext cx="10927080" cy="530352"/>
          </a:xfrm>
          <a:prstGeom prst="roundRect">
            <a:avLst>
              <a:gd name="adj" fmla="val 10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0080" y="3118104"/>
            <a:ext cx="73152" cy="53035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163824"/>
            <a:ext cx="420624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Muchos servers MCP activos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0" y="3163824"/>
            <a:ext cx="62179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Bloque de tools grande y cambiante → escrituras caras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3739896"/>
            <a:ext cx="10927080" cy="530352"/>
          </a:xfrm>
          <a:prstGeom prst="roundRect">
            <a:avLst>
              <a:gd name="adj" fmla="val 10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0080" y="3739896"/>
            <a:ext cx="73152" cy="530352"/>
          </a:xfrm>
          <a:prstGeom prst="roundRect">
            <a:avLst>
              <a:gd name="adj" fmla="val 50000"/>
            </a:avLst>
          </a:prstGeom>
          <a:solidFill>
            <a:srgbClr val="8CC2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785615"/>
            <a:ext cx="420624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Sesión larga, turnos frecuentes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80" y="3785615"/>
            <a:ext cx="62179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El historial se relee a 0.1× — el caso ideal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4361688"/>
            <a:ext cx="10927080" cy="530352"/>
          </a:xfrm>
          <a:prstGeom prst="roundRect">
            <a:avLst>
              <a:gd name="adj" fmla="val 10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40080" y="4361688"/>
            <a:ext cx="73152" cy="53035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4407407"/>
            <a:ext cx="420624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/compact o auto-compact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2080" y="4407407"/>
            <a:ext cx="62179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Reescribe el historial → rompe el cache de mensajes una vez, y sigue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5120640"/>
            <a:ext cx="109270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9AA4B2"/>
                </a:solidFill>
                <a:latin typeface="Segoe UI"/>
              </a:rPr>
              <a:t>Claude Code no expone cache_control: lo aplica solo (system + tools + historial = prefijo). Tus decisiones de la slide anterior determinan el hit-rate.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Contexto lean y estable rinde mejor Y cuesta menos: dos niveles optimiza ambos ejes a la vez.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04 · MCP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Model Context Protocol: conecta tu mundo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10927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9AA4B2"/>
                </a:solidFill>
                <a:latin typeface="Segoe UI"/>
              </a:rPr>
              <a:t>Estándar abierto para enchufar Claude a datos y tools externas. Las tools aparecen como </a:t>
            </a:r>
            <a:r>
              <a:rPr sz="1250" b="1">
                <a:solidFill>
                  <a:srgbClr val="D97757"/>
                </a:solidFill>
                <a:latin typeface="Consolas"/>
              </a:rPr>
              <a:t>mcp__&lt;server&gt;__&lt;tool&gt;</a:t>
            </a:r>
            <a:r>
              <a:rPr sz="1250" b="0">
                <a:solidFill>
                  <a:srgbClr val="9AA4B2"/>
                </a:solidFill>
                <a:latin typeface="Segoe UI"/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331720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41247" y="25328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255117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47802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Scope local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2788920"/>
            <a:ext cx="4375404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.claude/settings.local.json — solo tú, esta máquina.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1636" y="2331720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32804" y="25328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32804" y="255117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47802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Scope project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54596" y="2788920"/>
            <a:ext cx="4375404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.mcp.json en la raíz, versionado, compartido con el equipo.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502152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41247" y="370332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7" y="372160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U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48456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Scope user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3959352"/>
            <a:ext cx="4375404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~/.claude.json — todos tus proyectos.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1636" y="3502152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432804" y="370332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32804" y="372160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48456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Servers que uso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4596" y="3959352"/>
            <a:ext cx="4375404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serena · context7 · playwright · codegraph · supabase.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4215384"/>
            <a:ext cx="10927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Añadir un server (secretos por env var; cada server suma contexto — sección 03)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" y="4526280"/>
            <a:ext cx="10927080" cy="105156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96112" y="4709160"/>
            <a:ext cx="10469880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claude mcp add --transport http context7 https://mcp.context7.com/mcp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claude mcp list      # estado      /mcp   # auth OAuth y tools dentro de la sesión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05 · PLUGINS, TOOLS Y SKILLS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Cuatro capas de extensibilidad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5335524" cy="105156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41247" y="20756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209397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02082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Tools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331720"/>
            <a:ext cx="4375404" cy="548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Lo que Claude puede hacer: Read/Edit/Bash/Grep/Task + mcp__*. Gobernadas por permisos.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1874519"/>
            <a:ext cx="5335524" cy="105156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32804" y="20756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09397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202082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Slash commands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331720"/>
            <a:ext cx="4375404" cy="548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.claude/commands/x.md = /x. El cuerpo es el prompt. Lo invocas tú.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182111"/>
            <a:ext cx="5335524" cy="105156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1247" y="3383279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7" y="340156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28415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Skills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39311"/>
            <a:ext cx="4375404" cy="548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.claude/skills/x/SKILL.md con description. Claude la auto-selecciona; lleva scripts/plantillas.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1636" y="3182111"/>
            <a:ext cx="5335524" cy="105156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32804" y="3383279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40156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28415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Plugins + marketplace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39311"/>
            <a:ext cx="4375404" cy="548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Agrupan skills+comandos+agentes+MCP+hooks. /plugin install. GSD es uno.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343400"/>
            <a:ext cx="109270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7AA2C7"/>
                </a:solidFill>
                <a:latin typeface="Segoe UI"/>
              </a:rPr>
              <a:t>La 5ª capa — subagentes y equipos de agentes — merece sección propia: es la siguiente.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Slash command = atajo que invocas tú. Skill = capacidad que Claude decide usar. Plugin = el reparto.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06 · SUBAGENTS Y AGENT TEAMS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Subagentes: el ruido muere fuera de tu sesión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49240" cy="201168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Built-ins (tool Task)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Explore — búsqueda read-only por el codebase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 — diseñar la estrategia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general-purpose — multi-paso, todos los tools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En paralelo para trabajo independiente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837944"/>
            <a:ext cx="5349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Custom: un .md con frontmatter (/agents los lista)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48840"/>
            <a:ext cx="5349240" cy="237744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331720"/>
            <a:ext cx="4892040" cy="2057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.claude/agents/security-reviewer.md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---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name: security-reviewer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description: Revisa vulnerabilidades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tras cambios en auth o deps.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tools: Read, Grep, Glob, Bash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model: opus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---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Eres un ingeniero de seguridad senior…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77639"/>
            <a:ext cx="5349240" cy="155448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178807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Lo que hay que saber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636007"/>
            <a:ext cx="4846320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Contexto AISLADO: solo el resumen vuelve a tu sesión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NO hereda tu conversación: contexto en el prompt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description = auto-selección · tools = allowlist propio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Ejemplos reales en ejemplos/subagents/: security-reviewer y refactor-scout (regla CodeGraph→Serena).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06 · SUBAGENTS Y AGENT TEAMS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Agent Teams: varios Claudes que se coordinan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49240" cy="237744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La arquitectura (experimental)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Lead + teammates: cada uno una SESIÓN completa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Task list compartida: ~/.claude/tasks/&lt;team&gt;/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Mensajería directa entre teammates (inboxes)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Pueden debatir hallazgos, no solo reportar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Roles = tus subagentes custom reutilizados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837944"/>
            <a:ext cx="5349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Activar (off por defecto)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48840"/>
            <a:ext cx="5349240" cy="146304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331720"/>
            <a:ext cx="489204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// ~/.claude/settings.json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{ "env": { "CLAUDE_CODE_EXPERIMENTAL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_AGENT_TEAMS": "1" },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"teammateMode": "in-process" }  // tmux|iterm2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886200"/>
            <a:ext cx="5349240" cy="164592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40873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Límites hoy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544568"/>
            <a:ext cx="48463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Sin /resume in-process · un team por sesión · sin anidar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Split-panes requiere tmux o iTerm2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Coste: cada teammate es una sesión completa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343400"/>
            <a:ext cx="53492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9AA4B2"/>
                </a:solidFill>
                <a:latin typeface="Segoe UI"/>
              </a:rPr>
              <a:t>Se pide en lenguaje natural: </a:t>
            </a:r>
            <a:r>
              <a:rPr sz="1150" b="0">
                <a:solidFill>
                  <a:srgbClr val="E8EAED"/>
                </a:solidFill>
                <a:latin typeface="Segoe UI"/>
              </a:rPr>
              <a:t>“monta un equipo con un architect y dos implementers; exige aprobación de plan antes de tocar código”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Particiona los ficheros: cada teammate es dueño de los suyos.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06 · SUBAGENTS Y AGENT TEAMS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¿Subagente o team? La decisión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1828800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AA2C7"/>
                </a:solidFill>
                <a:latin typeface="Segoe UI"/>
              </a:rPr>
              <a:t>SUBAGENTE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1828800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AGENT TEAM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240280"/>
            <a:ext cx="10927080" cy="475488"/>
          </a:xfrm>
          <a:prstGeom prst="roundRect">
            <a:avLst>
              <a:gd name="adj" fmla="val 10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286000"/>
            <a:ext cx="30175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Contexto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2286000"/>
            <a:ext cx="3383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Aislado; devuelve un resumen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2286000"/>
            <a:ext cx="3383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Cada teammate = sesión completa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2807208"/>
            <a:ext cx="10927080" cy="475488"/>
          </a:xfrm>
          <a:prstGeom prst="roundRect">
            <a:avLst>
              <a:gd name="adj" fmla="val 10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2852928"/>
            <a:ext cx="30175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Comunicación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40" y="2852928"/>
            <a:ext cx="3383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Solo resultado → principal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2852928"/>
            <a:ext cx="3383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Task list + mensajes entre teammates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374136"/>
            <a:ext cx="10927080" cy="475488"/>
          </a:xfrm>
          <a:prstGeom prst="roundRect">
            <a:avLst>
              <a:gd name="adj" fmla="val 10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3419856"/>
            <a:ext cx="30175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Coste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06240" y="3419856"/>
            <a:ext cx="3383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Bajo (lo caro muere fuera)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0" y="3419856"/>
            <a:ext cx="3383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Alto (N sesiones en paralelo)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3941064"/>
            <a:ext cx="10927080" cy="475488"/>
          </a:xfrm>
          <a:prstGeom prst="roundRect">
            <a:avLst>
              <a:gd name="adj" fmla="val 10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3986784"/>
            <a:ext cx="30175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Úsalo para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06240" y="3986784"/>
            <a:ext cx="3383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Side-quests: investigar, verificar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0" y="3986784"/>
            <a:ext cx="3383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Paralelismo real: revisión multi-capa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4507992"/>
            <a:ext cx="10927080" cy="475488"/>
          </a:xfrm>
          <a:prstGeom prst="roundRect">
            <a:avLst>
              <a:gd name="adj" fmla="val 10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4553712"/>
            <a:ext cx="30175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Config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06240" y="4553712"/>
            <a:ext cx="3383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Nada, o .claude/agents/*.md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63840" y="4553712"/>
            <a:ext cx="3383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Env var experimental + settings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5193792"/>
            <a:ext cx="10927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Puente a la Parte 2: </a:t>
            </a:r>
            <a:r>
              <a:rPr sz="1150" b="0">
                <a:solidFill>
                  <a:srgbClr val="9AA4B2"/>
                </a:solidFill>
                <a:latin typeface="Segoe UI"/>
              </a:rPr>
              <a:t>GSD empaqueta exactamente esto — gsd-planner, gsd-executor, gsd-verifier son subagentes custom como plugin (este proyecto usa el flujo data/changes/, no GSD — ver Parte 2).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Subagente para que el ruido muera fuera; team para que varios Claudes debatan. El coste no es el mismo.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07 · AUTOMATIZACIÓN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Hooks: el control determinista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49240" cy="283464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El contrato de un hook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Payload del evento por STDIN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Eventos: PreToolUse, PostToolUse, SessionStart, Stop…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Matcher = regex sobre el nombre de la tool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exit 0 permite · exit 2 BLOQUEA (stderr → Claude)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Pre = intención (tool_input) · Post = resultado (tool_response)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837944"/>
            <a:ext cx="5349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Patrón de bloqueo (JS)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4884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331720"/>
            <a:ext cx="4892040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if (payload.tool_input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?.file_path?.includes(".env")) {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console.error("Bloqueado: no leas .env");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process.exit(2);   // &lt;-- veto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}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process.exit(0);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Con instrucciones le pides que se porte bien; con un hook lo garantizas.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07 · AUTOMATIZACIÓN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De hooks a agentes programados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5335524" cy="96012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41247" y="20756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209397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02082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Hooks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331720"/>
            <a:ext cx="437540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Seguridad (.env), formato (prettier), type-check bloqueante, 'IA revisando IA' vía SDK.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1874519"/>
            <a:ext cx="5335524" cy="96012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32804" y="20756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09397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202082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Headless / piping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331720"/>
            <a:ext cx="437540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claude -p en cualquier tubería Unix o script.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090672"/>
            <a:ext cx="5335524" cy="96012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1247" y="329184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7" y="331012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236976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CI/CD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547872"/>
            <a:ext cx="437540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GitHub Actions · GitLab · GitHub Code Review sobre cada PR.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1636" y="3090672"/>
            <a:ext cx="5335524" cy="96012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32804" y="329184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31012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236976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Scheduling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547872"/>
            <a:ext cx="437540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Routines (/schedule, infra Anthropic) · Desktop tasks · /loop.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3803904"/>
            <a:ext cx="10927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Agent SDK — workflows a medida (menor privilegio)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4114800"/>
            <a:ext cx="10927080" cy="114300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2" y="4297680"/>
            <a:ext cx="10469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import { query } from "@anthropic-ai/claude-agent-sdk";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for await (const m of query({ prompt, options: { allowedTools: ["Edit"] } }))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if (m.type === "result") console.log(m.result);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Segoe UI"/>
              </a:rPr>
              <a:t>PARTE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E8EAED"/>
                </a:solidFill>
                <a:latin typeface="Segoe UI"/>
              </a:rPr>
              <a:t>La metodología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2606040"/>
            <a:ext cx="128016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88920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9AA4B2"/>
                </a:solidFill>
                <a:latin typeface="Segoe UI"/>
              </a:rPr>
              <a:t>Agnóstica de la herramienta: se demuestra con Claude Code, pero la disciplina viaja.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520440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566160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08 · El flujo de 11 etapas + ejemplo real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3520440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3566160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09 · Las herramientas del método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4087368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4133087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10 · Transferir a otro agente (Copilot)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4087368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9400" y="4133087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11 · Sincronizar máquinas: transportar y compartir (S3)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08 · LA METODOLOGÍA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El agente es un colaborador disciplinado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10927080" cy="1051560"/>
          </a:xfrm>
          <a:prstGeom prst="roundRect">
            <a:avLst>
              <a:gd name="adj" fmla="val 6000"/>
            </a:avLst>
          </a:prstGeom>
          <a:solidFill>
            <a:srgbClr val="222B38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93392"/>
            <a:ext cx="1042416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8EAED"/>
                </a:solidFill>
                <a:latin typeface="Segoe UI"/>
              </a:rPr>
              <a:t>“La autonomía se gana por-decisión, no se concede en bloque.”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108960"/>
            <a:ext cx="5349240" cy="1874519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31012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El agente posee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67328"/>
            <a:ext cx="484632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Investigación y diagnóstico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Planes e implementación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Tests y documentación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3108960"/>
            <a:ext cx="5349240" cy="1874519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331012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El humano posee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767328"/>
            <a:ext cx="484632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Decisiones go/no-go y el scope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Toda acción externa: push, PR, deploy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La aprobación del plan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513892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Agnóstica:  </a:t>
            </a:r>
            <a:r>
              <a:rPr sz="1100" b="0">
                <a:solidFill>
                  <a:srgbClr val="9AA4B2"/>
                </a:solidFill>
                <a:latin typeface="Segoe UI"/>
              </a:rPr>
              <a:t>no es un flujo de Claude Code — es una forma de trabajar con CUALQUIER agente. La sección 10 lo demuestra transfiriéndola a GitHub Copilot.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El modelo no gana confianza gratis: la gana decisión a decisión, con evidencia.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08 · LA METODOLOGÍA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El flujo real de 11 etapas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68096" y="1975103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975103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929384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Orientar: /kg + history-first + status-first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478024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8096" y="2578608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257860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7007" y="2532888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Triaje inbound: ¿síntoma en el contrato?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081528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68096" y="3182112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318211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136392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Regresión vs. pre-existente (probarlo)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3685031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68096" y="3785615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785615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07007" y="3739895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Investigar: oráculo determinista barato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4288536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68096" y="4389120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438912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07007" y="4343399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Plan → acuerdo humano explícito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4892040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68096" y="4992624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8096" y="4992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07007" y="4946903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Implementar: TDD RED → GREEN, mínimo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63640" y="1874519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391656" y="1975103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91656" y="1975103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0568" y="1929384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Verificar: 5 checks (instrumento → contrato → imagen)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63640" y="2478024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391656" y="2578608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91656" y="257860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0568" y="2532888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Documentar — cada cosa una vez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63640" y="3081528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6391656" y="3182112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91656" y="318211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0568" y="3136392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Sanitizar — líneas añadidas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263640" y="3685031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6391656" y="3785615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391656" y="3785615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10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0568" y="3739895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Handoff: el humano hace push / PR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263640" y="4288536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6391656" y="4389120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391656" y="438912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11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30568" y="4343399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Revisión bot + persistir lecciones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0080" y="5477256"/>
            <a:ext cx="109270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D97757"/>
                </a:solidFill>
                <a:latin typeface="Segoe UI"/>
              </a:rPr>
              <a:t>■ </a:t>
            </a:r>
            <a:r>
              <a:rPr sz="1050" b="0">
                <a:solidFill>
                  <a:srgbClr val="9AA4B2"/>
                </a:solidFill>
                <a:latin typeface="Segoe UI"/>
              </a:rPr>
              <a:t>Coral = GATE (STOP: no escribir código).   </a:t>
            </a:r>
            <a:r>
              <a:rPr sz="1050" b="1">
                <a:solidFill>
                  <a:srgbClr val="E8EAED"/>
                </a:solidFill>
                <a:latin typeface="Segoe UI"/>
              </a:rPr>
              <a:t>Etapa 7, los 5 checks: </a:t>
            </a:r>
            <a:r>
              <a:rPr sz="1050" b="0">
                <a:solidFill>
                  <a:srgbClr val="9AA4B2"/>
                </a:solidFill>
                <a:latin typeface="Segoe UI"/>
              </a:rPr>
              <a:t>instrumento · contrato (wrapper) · miembros, no totales · imagen · mirar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El agente orquesta y es donde vive la inferencia; lo caro se concentra en plan/código/verify, no en buscar.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08 · LA METODOLOGÍA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Un ejemplo real, de principio a fin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83080"/>
            <a:ext cx="10927080" cy="566928"/>
          </a:xfrm>
          <a:prstGeom prst="roundRect">
            <a:avLst>
              <a:gd name="adj" fmla="val 10000"/>
            </a:avLst>
          </a:prstGeom>
          <a:solidFill>
            <a:srgbClr val="222B38"/>
          </a:solidFill>
          <a:ln w="9525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5156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Segoe UI"/>
              </a:rPr>
              <a:t>Bug QA: </a:t>
            </a:r>
            <a:r>
              <a:rPr sz="1250" b="0">
                <a:solidFill>
                  <a:srgbClr val="E8EAED"/>
                </a:solidFill>
                <a:latin typeface="Segoe UI"/>
              </a:rPr>
              <a:t>“un campo sale vacío en la UI, pero está escrito en el PDF.”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542032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0080" y="2542032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578608"/>
            <a:ext cx="21945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Orientar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57860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/kg saca la zona de peligro (un SHARP_EDGE que restringe el fix); git/gh dan la base.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054096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3054096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090672"/>
            <a:ext cx="21945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Contrato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3090672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El campo está vacío en el JSON del endpoint (Playwright/F12) → el Lambda es responsable.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566160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0080" y="3566160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3602736"/>
            <a:ext cx="21945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Provenance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3602736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Re-extraer en la base previa: ya salía vacío → pre-existente, no regresión.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4078224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40080" y="4078224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4114800"/>
            <a:ext cx="21945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Investigar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4114800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Serena + CodeGraph localizan el detector; un _diag_pdf.py determinista da la causa: SIN LLM.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4590288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40080" y="4590288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" y="4626864"/>
            <a:ext cx="21945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Fix + verificar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0" y="4626864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Test RED → fix estructural (no cliente) → regresión no-op + contrato local (wrapper) + dentro de la imagen desplegada.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" y="5102352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40080" y="5102352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80" y="5138928"/>
            <a:ext cx="21945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Handoff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00400" y="513892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Sanitizar → el humano hace push/PR. Un bot detecta un caso más → test + PLAYBOOK.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El modelo no gana confianza gratis: la gana decisión a decisión, con evidencia.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09 · HERRAMIENTAS DEL MÉTODO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Qué herramienta usa el agente, y cuándo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10927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9AA4B2"/>
                </a:solidFill>
                <a:latin typeface="Segoe UI"/>
              </a:rPr>
              <a:t>Regla del CLAUDE.md: </a:t>
            </a:r>
            <a:r>
              <a:rPr sz="1200" b="1">
                <a:solidFill>
                  <a:srgbClr val="E8EAED"/>
                </a:solidFill>
                <a:latin typeface="Segoe UI"/>
              </a:rPr>
              <a:t>codegraph_explore PRIMERO (survey en 1 llamada) · Serena find_referencing_symbols para el chequeo preciso antes de renombrar. </a:t>
            </a:r>
            <a:r>
              <a:rPr sz="1200" b="0">
                <a:solidFill>
                  <a:srgbClr val="9AA4B2"/>
                </a:solidFill>
                <a:latin typeface="Segoe UI"/>
              </a:rPr>
              <a:t>Orden: barato → caro, determinista → probabilístico.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286000"/>
            <a:ext cx="1092708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331720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Orientar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2331720"/>
            <a:ext cx="6400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/kg (grafo de tickets → zona de peligro) · STATUS.md · git · gh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49840" y="2331720"/>
            <a:ext cx="12801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sin inferencia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2834640"/>
            <a:ext cx="1092708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880360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Navegar (survey)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2880360"/>
            <a:ext cx="6400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CodeGraph codegraph_explore — fuente + rutas + blast radius + cobertura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49840" y="2880360"/>
            <a:ext cx="12801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1 llamada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383280"/>
            <a:ext cx="1092708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429000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Refactor-check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11880" y="3429000"/>
            <a:ext cx="6400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Serena find_referencing_symbols — desambigua por clase (antes de renombrar)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49840" y="3429000"/>
            <a:ext cx="12801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preciso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3931920"/>
            <a:ext cx="1092708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977639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Diagnosticar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11880" y="3977639"/>
            <a:ext cx="6400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Oráculo determinista: parser / validador / _diag_*.py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49840" y="3977639"/>
            <a:ext cx="12801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sin inferencia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4480560"/>
            <a:ext cx="1092708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4526280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Entorno (logs, config)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11880" y="4526280"/>
            <a:ext cx="6400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AWS CLI — CloudWatch · lambda get-function · SQS/DLQ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49840" y="4526280"/>
            <a:ext cx="12801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read-only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5029200"/>
            <a:ext cx="1092708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5074920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Contrato de salida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11880" y="5074920"/>
            <a:ext cx="6400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Playwright / F12 sobre el endpoint que ve el consumidor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49840" y="5074920"/>
            <a:ext cx="12801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reproducir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0080" y="5577840"/>
            <a:ext cx="10927080" cy="457200"/>
          </a:xfrm>
          <a:prstGeom prst="roundRect">
            <a:avLst>
              <a:gd name="adj" fmla="val 12000"/>
            </a:avLst>
          </a:prstGeom>
          <a:solidFill>
            <a:srgbClr val="222B38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8680" y="5623559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Solo al final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11880" y="5623559"/>
            <a:ext cx="6400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La tirada del LLM — para VERIFICAR el fix, no para diagnosticar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49840" y="5623559"/>
            <a:ext cx="12801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metered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09 · HERRAMIENTAS DEL MÉTODO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Cada herramienta, en una frase — y su fase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41247" y="202996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204825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CG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197510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CodeGraph → investigar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286000"/>
            <a:ext cx="4375404" cy="576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Grafo del CÓDIGO (tree-sitter→SQLite, local). Survey en 1 llamada: fuente + callers + blast radius + cobertura.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1828800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32804" y="202996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04825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197510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Serena → pre-refactor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286000"/>
            <a:ext cx="4375404" cy="576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Navegación semántica vía LSP. find_referencing_symbols desambigua por clase: el chequeo preciso antes de renombrar.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163824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1247" y="3364992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7" y="3383280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10128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GSD → plan/ejecutar/verificar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21024"/>
            <a:ext cx="4375404" cy="576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El método productizado (subagentes gsd-* + .planning/). Para greenfield multi-fase; este proyecto usa data/changes/, no GSD.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1636" y="3163824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32804" y="3364992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383280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/kg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10128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Grafo de tickets → orientar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21024"/>
            <a:ext cx="4375404" cy="576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Grafo de la MEMORIA del proyecto (con graphify): tickets + sharp edges. History-first sin LLM (Parte 3).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4498848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41247" y="4700016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7" y="4718304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Pw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63040" y="4645152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Playwright → triaje y outbound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3040" y="4956048"/>
            <a:ext cx="4375404" cy="576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Reproduce el síntoma donde lo ve el consumidor: el endpoint real, no una función interna.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31636" y="4498848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432804" y="4700016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32804" y="4718304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Or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4596" y="4645152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Oráculos → diagnosticar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54596" y="4956048"/>
            <a:ext cx="4375404" cy="576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Parsers/validadores/_diag_*.py propios: respuesta barata y reproducible antes de gastar la tirada del LLM.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La inversión clásica — el modelo diagnostica — es lo que este orden evita: el modelo verifica; los oráculos diagnostican.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09 · HERRAMIENTAS DEL MÉTODO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GSD: la metodología hecha tooling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0784"/>
            <a:ext cx="5623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Ciclo por fases, estado versionado en .planning/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011680"/>
            <a:ext cx="5623560" cy="292608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194560"/>
            <a:ext cx="5166360" cy="2606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/gsd-new-project  -&gt; PROJECT.md + ROADMAP.md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/gsd-plan-phase   -&gt; PLAN.md  (+ gate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                gsd-plan-checker)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/gsd-execute-phase-&gt; olas paralelas,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                commits atómicos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/gsd-verify-work  -&gt; VERIFICATION.md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/gsd-progress     # qué toca ahora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92240" y="1700784"/>
            <a:ext cx="5074920" cy="324612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59" y="1901952"/>
            <a:ext cx="4617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Subagentes especializados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59" y="2359152"/>
            <a:ext cx="4572000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gsd-planner — desglose + dependencias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gsd-plan-checker — ¿logrará el objetivo? (goal-backward)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gsd-executor — commits atómicos, checkpoints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gsd-code-reviewer — REVIEW.md por severidad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gsd-verifier — verifica el OBJETIVO, no solo tareas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029200"/>
            <a:ext cx="109270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¿Lo usamos aquí? No: </a:t>
            </a:r>
            <a:r>
              <a:rPr sz="1150" b="0">
                <a:solidFill>
                  <a:srgbClr val="9AA4B2"/>
                </a:solidFill>
                <a:latin typeface="Segoe UI"/>
              </a:rPr>
              <a:t>este proyecto corre el flujo de 11 etapas + data/changes/, más depurado para fixes por ticket. GSD encaja en un greenfield multi-componente (roadmap → fases). Aquí ilustra la Parte 1: subagentes custom + skills como plugin.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Mismo método, productizado: GSD para greenfield multi-fase; aquí, data/changes/ afinado a fixes por ticket.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09 · HERRAMIENTAS DEL MÉTODO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CodeGraph: inteligencia de código local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49240" cy="219456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Índice tree-sitter → SQLite (.codegraph/)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Símbolos: funciones, clases, rutas, componentes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Aristas: llamadas, imports, herencia, referencias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Determinista (del AST), sin API keys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Devuelve: fuente + rutas + blast radius + cobertura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700784"/>
            <a:ext cx="5349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CLI  (install --location=global escribe el MCP)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011680"/>
            <a:ext cx="5349240" cy="155448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194560"/>
            <a:ext cx="489204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codegraph init      # crea .codegraph/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codegraph sync      # incremental tras editar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codegraph explore "&lt;símbolo|pregunta&gt;"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codegraph serve --path &lt;repo&gt; --mcp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794760"/>
            <a:ext cx="5349240" cy="109728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3913632"/>
            <a:ext cx="49377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Primero para navegar:  </a:t>
            </a:r>
            <a:r>
              <a:rPr sz="1100" b="0">
                <a:solidFill>
                  <a:srgbClr val="E8EAED"/>
                </a:solidFill>
                <a:latin typeface="Segoe UI"/>
              </a:rPr>
              <a:t>fuente + callers + blast radius + cobertura en 1 consulta (trátala como YA leída). Serena find_referencing_symbols = chequeo preciso (desambigua por clase). --path fija el repo por defecto.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206240"/>
            <a:ext cx="53492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8CC28C"/>
                </a:solidFill>
                <a:latin typeface="Segoe UI"/>
              </a:rPr>
              <a:t>58% menos tool calls · 22% más rápido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9AA4B2"/>
                </a:solidFill>
                <a:latin typeface="Segoe UI"/>
              </a:rPr>
              <a:t>(según sus benchmarks: casi elimina las lecturas de fichero)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Una consulta en vez de grep→abrir→seguir-import→repetir. Menos contexto, más señal.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09 · HERRAMIENTAS DEL MÉTODO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Serena: navegación semántica, chequeo preciso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49240" cy="237744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Navegación semántica vía LSP (MCP)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Opera sobre SÍMBOLOS, no texto: precisión de IDE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find_symbol (body=true) — un método de un fichero de 5k líneas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get_symbols_overview — esqueleto de un fichero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find_referencing_symbols — quién referencia, POR CLASE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search_for_pattern · activate_project (multi-repo)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837944"/>
            <a:ext cx="5349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Instalar (stdio)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48840"/>
            <a:ext cx="5349240" cy="123444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331720"/>
            <a:ext cx="4892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claude mcp add serena -- uvx \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--from git+https://github.com/oraios/serena \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serena start-mcp-server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657600"/>
            <a:ext cx="5349240" cy="141732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3794760"/>
            <a:ext cx="49377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Por qué es OBLIGATORIO pre-rename:  </a:t>
            </a:r>
            <a:r>
              <a:rPr sz="1100" b="0">
                <a:solidFill>
                  <a:srgbClr val="E8EAED"/>
                </a:solidFill>
                <a:latin typeface="Segoe UI"/>
              </a:rPr>
              <a:t>el impact plano de CodeGraph mezcla métodos homónimos (Invoice.process vs Refund.process); Serena los desambigua por clase. Complementarios, no rivales.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434840"/>
            <a:ext cx="5349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El subagente refactor-scout </a:t>
            </a:r>
            <a:r>
              <a:rPr sz="1150" b="0">
                <a:solidFill>
                  <a:srgbClr val="9AA4B2"/>
                </a:solidFill>
                <a:latin typeface="Segoe UI"/>
              </a:rPr>
              <a:t>(ejemplos/subagents/) empaqueta el orden CodeGraph → Serena → grep como procedimiento.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CodeGraph responde '¿qué se rompe?'; Serena responde '¿exactamente quién llama a ESTE process()?'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10 · TRANSFERENCIA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La prueba de que es agnóstica: llevarla a Copilot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49240" cy="25146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Viaja SIN cambios (las 5 reglas)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 → acuerdo → implementar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Verificar en el contrato del CONSUMIDOR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Resolver la clase general, no un input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Rastro durable: porqué, qué, cómo se verificó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humano posee lo externo (merge, deploy)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828800"/>
            <a:ext cx="5349240" cy="25146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Se re-mapea por repo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87168"/>
            <a:ext cx="484632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contrato: HTTP / DB / evento / artefacto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tracker: Jira · Azure Boards · Issues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La pirámide de tests y el runtime desplegado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Las reglas de sanitización locales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Las tools: Serena/CodeGraph//kg son fungibles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526280"/>
            <a:ext cx="10927080" cy="11430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727448"/>
            <a:ext cx="10469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El starter-kit (docs/ai-agents-code-methodology/)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184648"/>
            <a:ext cx="1042415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Plantillas STATUS · SHARP_EDGES · handover · QA + bootstrap-new-repo.ps1 → estructura en el repo destino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Sin grafo de tickets: fallback determinista (STATUS newest-first + búsqueda léxica + historia de commits) = 80% del valor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Si solo conservas cinco reglas, conserva esas cinco. Las tools se sustituyen; la disciplina viaja.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11 · 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Sincronizar máquinas (A): transportar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49240" cy="246888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Outbound — copia completa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Un tarball: workspace + ~/.claude · .aws · .ssh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-h dereferencia el symlink de .aws (crítico)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Excluye venvs / node_modules / caches / .codegraph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USB: mount manual en WSL + verificar byte a byte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En destino: bootstrap (/kg) + target-setup.sh rehacen el tooling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828800"/>
            <a:ext cx="5349240" cy="246888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Inbound — solo delta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87168"/>
            <a:ext cx="484632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código ya está en GitHub → git fetch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Docs gitignored de data/ + memoria (snapshot-memory) viajan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En la principal: restore-memory → /kg-refresh reconstruye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backup + diff de STATUS.md; STOP si hubo ediciones propias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407408"/>
            <a:ext cx="10927080" cy="128016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608576"/>
            <a:ext cx="10469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El landing lo conduce un agente — con guardrails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65776"/>
            <a:ext cx="10424159" cy="4571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Solo no-destructivo (renombrar, no borrar) · git fetch = única op de red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humano hace push / merge; el agente prepara y reporta con evidencia (conteos, PRs)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La metodología no es solo para código: memoria durable, guardrails y 'el humano hace lo externo' también en ops.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11 · 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Sincronizar máquinas (B): compartir sobre S3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55648"/>
            <a:ext cx="109270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9AA4B2"/>
                </a:solidFill>
                <a:latin typeface="Segoe UI"/>
              </a:rPr>
              <a:t>El tarball resuelve </a:t>
            </a:r>
            <a:r>
              <a:rPr sz="1200" b="1">
                <a:solidFill>
                  <a:srgbClr val="E8EAED"/>
                </a:solidFill>
                <a:latin typeface="Segoe UI"/>
              </a:rPr>
              <a:t>transportar</a:t>
            </a:r>
            <a:r>
              <a:rPr sz="1200" b="0">
                <a:solidFill>
                  <a:srgbClr val="9AA4B2"/>
                </a:solidFill>
                <a:latin typeface="Segoe UI"/>
              </a:rPr>
              <a:t> entre TUS máquinas. No resuelve </a:t>
            </a:r>
            <a:r>
              <a:rPr sz="1200" b="1">
                <a:solidFill>
                  <a:srgbClr val="E8EAED"/>
                </a:solidFill>
                <a:latin typeface="Segoe UI"/>
              </a:rPr>
              <a:t>compartir</a:t>
            </a:r>
            <a:r>
              <a:rPr sz="1200" b="0">
                <a:solidFill>
                  <a:srgbClr val="9AA4B2"/>
                </a:solidFill>
                <a:latin typeface="Segoe UI"/>
              </a:rPr>
              <a:t>: el registro es gitignored → no se puede enlazar desde un ticket, y cada persona acaba con su propio índice privado de la misma historia.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304288"/>
            <a:ext cx="5349240" cy="20574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505456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Las reglas que lo hacen seguro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962656"/>
            <a:ext cx="484632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Alcance estrecho: docs + grafo. Nada de datos de cliente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Escribe por sync · lee por mount de SOLO LECTURA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Dry-run por defecto; --go explícito; --delete aparte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Versionado del bucket = red de recuperación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304288"/>
            <a:ext cx="5349240" cy="20574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2505456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Fuente de verdad vs. derivado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962656"/>
            <a:ext cx="484632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Los docs mandan; el grafo se DERIVA de ellos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Los ficheros por ticket casi nunca chocan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grafo es el único punto real de contención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→ reconstruir en local, o UN solo publisher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471416"/>
            <a:ext cx="10927080" cy="1207008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672583"/>
            <a:ext cx="10469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Lo específico de los agentes: la máquina tiene rol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129783"/>
            <a:ext cx="1042415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Varias máquinas, permisos distintos → la sesión debe saber DÓNDE está antes de actuar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MACHINE_NAME / MACHINE_ROLE → IDENTITY.md (machine-local) ← CLAUDE.md apunta a él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Un mount escribible sobre almacenamiento de objetos no es una comodidad: es corrupción que descubres semanas después.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Segoe UI"/>
              </a:rPr>
              <a:t>PARTE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E8EAED"/>
                </a:solidFill>
                <a:latin typeface="Segoe UI"/>
              </a:rPr>
              <a:t>El grafo de tickets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2606040"/>
            <a:ext cx="128016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88920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9AA4B2"/>
                </a:solidFill>
                <a:latin typeface="Segoe UI"/>
              </a:rPr>
              <a:t>Un caso completo construido con graphify — no con CodeGraph: la memoria del proyecto, navegable.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520440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566160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12a · El problema y el diseño (spike)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3520440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3566160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12b · Pipeline y comandos (/kg, /kg-refresh)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4087368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4133087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12c · El grafo real, visualizado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4087368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9400" y="4133087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12d · Uso y enganche en la metodología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3 · 12A · GRAFO DE TICKETS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El problema, y por qué graphify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49240" cy="22860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El problema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~540 ficheros de writeups, sharp edges, runbooks, memoria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Un bug 'nuevo' casi siempre tiene contexto previo que restringe el fix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Encontrarlo a mano = recordar que existe + grep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grafo lo hace EXPLÍCITO y consultable en 1 llamada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828800"/>
            <a:ext cx="5349240" cy="22860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El corpus: manifest, no glob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87168"/>
            <a:ext cx="48463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manifest.txt DIFFEABLE: ~116 ficheros, ~196k palabras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Writeups sst-* (+ fallback determinista) · hubs · runbooks · memoria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Exclusiones duras: binarios, handovers repetidos, copias stale (payload/)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Densidad sin conocimiento nuevo = ruido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343400"/>
            <a:ext cx="10927080" cy="1234440"/>
          </a:xfrm>
          <a:prstGeom prst="roundRect">
            <a:avLst>
              <a:gd name="adj" fmla="val 8000"/>
            </a:avLst>
          </a:prstGeom>
          <a:solidFill>
            <a:srgbClr val="222B38"/>
          </a:solidFill>
          <a:ln w="9525">
            <a:solidFill>
              <a:srgbClr val="8CC2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498848"/>
            <a:ext cx="104241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8CC28C"/>
                </a:solidFill>
                <a:latin typeface="Segoe UI"/>
              </a:rPr>
              <a:t>La tecnología es graphify — CodeGraph es solo la analogía.  </a:t>
            </a:r>
            <a:r>
              <a:rPr sz="1150" b="0">
                <a:solidFill>
                  <a:srgbClr val="E8EAED"/>
                </a:solidFill>
                <a:latin typeface="Segoe UI"/>
              </a:rPr>
              <a:t>Mismo rol (grafo consultable antes de tocar nada), otro dominio (tickets, no código), otra herramienta. La Fase 1 fue un SPIKE con decisión keep/extend/replace: validar graphify off-the-shelf antes de invertir en extracción custom. Bastó — y se quedó.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Material completo (diseño, scripts, tests, salida real): docs/knowledge-graph/.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3 · 12B · GRAFO DE TICKETS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Pipeline y comandos creados en Claude Code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46504"/>
            <a:ext cx="5806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Build (skill /kg-refresh)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057400"/>
            <a:ext cx="5806440" cy="196596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240280"/>
            <a:ext cx="5349240" cy="1645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kg_refresh.sh prepare   # manifest -&gt; stage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                   # -&gt; scratch FUERA del repo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/graphify &lt;scratch&gt;     # ÚNICO paso con LLM: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                   # nodos+aristas+clustering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kg_refresh.sh finalize  # output/ + leak-check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20840" y="1755648"/>
            <a:ext cx="4846320" cy="22860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95159" y="1956816"/>
            <a:ext cx="4389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Las piezas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59" y="2414015"/>
            <a:ext cx="4343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/kg y /kg-refresh — skills de Claude Code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kg_query.sh — envuelve graphify explain/path + find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kg_refresh.sh — prepare · finalize · bootstrap · snapshot/restore-memory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build_manifest.py + stage_corpus.py — el corpus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test_kg_*.py — los bookends, TESTEADOS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224528"/>
            <a:ext cx="10927080" cy="1371600"/>
          </a:xfrm>
          <a:prstGeom prst="roundRect">
            <a:avLst>
              <a:gd name="adj" fmla="val 8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370832"/>
            <a:ext cx="104241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El gotcha que lo sostiene:  </a:t>
            </a:r>
            <a:r>
              <a:rPr sz="1150" b="0">
                <a:solidFill>
                  <a:srgbClr val="E8EAED"/>
                </a:solidFill>
                <a:latin typeface="Segoe UI"/>
              </a:rPr>
              <a:t>graphify respeta .gitignore y todo data/ lo está → correr el detector in situ encuentra 0 ficheros. Por eso el corpus se monta en un scratch fuera del repo y los artefactos se copian de vuelta.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8CC28C"/>
                </a:solidFill>
                <a:latin typeface="Segoe UI"/>
              </a:rPr>
              <a:t>Por eso /kg-refresh es un skill, no un script: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paso semántico (/graphify, subagentes en paralelo) es un paso de Claude; los bookends son deterministas.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Staging con provenance: sst-5468__sst-5468.md, hub__STATUS.md, memory__x.md — cada nodo traza a su fuente.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3 · 12C · GRAFO DE TICKETS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El grafo real: 507 nodos, 35 comunidades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35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" y="1764792"/>
            <a:ext cx="8083296" cy="4562856"/>
          </a:xfrm>
          <a:prstGeom prst="rect">
            <a:avLst/>
          </a:prstGeom>
          <a:noFill/>
          <a:ln w="12700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kg_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83080"/>
            <a:ext cx="8046720" cy="45262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8869680" y="1783080"/>
            <a:ext cx="2697480" cy="310896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0" y="1984248"/>
            <a:ext cx="2240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La salida real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2441448"/>
            <a:ext cx="219456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507 nodos · 672 aristas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35 comunidades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92% EXTRACTED (fiable)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7% INFERRED (conf. 0.7)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116 ficheros, ~196k palabras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5029200"/>
            <a:ext cx="26974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graph.html interactivo: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búsqueda de nodos, panel de info, filtro por comunidad (vis-network).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Las comunidades mapean a zonas de peligro reales; los god-nodes son la lista de onboarding gratis.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3 · 12D · GRAFO DE TICKETS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Cómo se usa — y dónde se engancha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46504"/>
            <a:ext cx="5806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Consulta: CERO LLM (kg_query.sh lee graph.json)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057400"/>
            <a:ext cx="5806440" cy="182880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240280"/>
            <a:ext cx="534924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/kg &lt;ticket|tema&gt;  # vecinos   (explain)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/kg &lt;A&gt; &lt;B&gt;        # camino    (path)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/kg find &lt;substr&gt;  # nombre exacto de nodo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/kg-refresh        # reconstruir (barato)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20840" y="1755648"/>
            <a:ext cx="4846320" cy="22860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95159" y="1956816"/>
            <a:ext cx="4389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Dónde se engancha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59" y="2414015"/>
            <a:ext cx="4343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Etapa 1 (Orientar) del flujo de 11 etapas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Regla history-first del CLAUDE.md: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/kg &lt;ticket|tema&gt; ANTES de grep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Apunta a QUÉ leer; no lo sustituye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069080"/>
            <a:ext cx="5806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CC28C"/>
                </a:solidFill>
                <a:latin typeface="Segoe UI"/>
              </a:rPr>
              <a:t>Ejemplo real: /kg get_letter_end </a:t>
            </a:r>
            <a:r>
              <a:rPr sz="1150" b="0">
                <a:solidFill>
                  <a:srgbClr val="9AA4B2"/>
                </a:solidFill>
                <a:latin typeface="Segoe UI"/>
              </a:rPr>
              <a:t>→ la zona de peligro completa al instante: los 5-6 tickets que comparten ese código.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54880"/>
            <a:ext cx="10927080" cy="9144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956048"/>
            <a:ext cx="10469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Honestidad y ciclo de vida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413248"/>
            <a:ext cx="10424159" cy="91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Recall en zonas densas · EXTRACTED = fiable, INFERRED = pista · interno (data/) · derivado: nunca viaja, se reconstruye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Un paso semántico en el build, cero LLM en la consulta. El grafo es el mapa; el agente, el guía.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CIERRE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De asistente a sistema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5349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PARTE 1 · la herramienta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148840"/>
            <a:ext cx="5349240" cy="7772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22960" y="2313432"/>
            <a:ext cx="402336" cy="402336"/>
          </a:xfrm>
          <a:prstGeom prst="roundRect">
            <a:avLst>
              <a:gd name="adj" fmla="val 35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322576"/>
            <a:ext cx="40233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24028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Instalar + memoria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542032"/>
            <a:ext cx="45720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Una línea; CLAUDE.md de dos niveles; sesiones que viajan.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017520"/>
            <a:ext cx="5349240" cy="7772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2960" y="3182112"/>
            <a:ext cx="402336" cy="402336"/>
          </a:xfrm>
          <a:prstGeom prst="roundRect">
            <a:avLst>
              <a:gd name="adj" fmla="val 35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191256"/>
            <a:ext cx="40233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10896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Contexto &amp; caching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410712"/>
            <a:ext cx="45720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El presupuesto y el descuento: lean y estable gana en ambos.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886200"/>
            <a:ext cx="5349240" cy="7772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22960" y="4050791"/>
            <a:ext cx="402336" cy="402336"/>
          </a:xfrm>
          <a:prstGeom prst="roundRect">
            <a:avLst>
              <a:gd name="adj" fmla="val 35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4059936"/>
            <a:ext cx="40233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3977639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MCP + skills + plugins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279392"/>
            <a:ext cx="45720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Conecta tu mundo; empaqueta y distribuye flujos.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4754879"/>
            <a:ext cx="5349240" cy="7772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22960" y="4919471"/>
            <a:ext cx="402336" cy="402336"/>
          </a:xfrm>
          <a:prstGeom prst="roundRect">
            <a:avLst>
              <a:gd name="adj" fmla="val 35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928616"/>
            <a:ext cx="40233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4846319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Subagents &amp; teams + automatización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0" y="5148071"/>
            <a:ext cx="45720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Escala el trabajo; hooks que garantizan calidad.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0" y="1783080"/>
            <a:ext cx="5349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AA2C7"/>
                </a:solidFill>
                <a:latin typeface="Segoe UI"/>
              </a:rPr>
              <a:t>PARTE 2 + 3 · el método y el grafo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17920" y="2148840"/>
            <a:ext cx="5349240" cy="7772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400800" y="2313432"/>
            <a:ext cx="402336" cy="402336"/>
          </a:xfrm>
          <a:prstGeom prst="roundRect">
            <a:avLst>
              <a:gd name="adj" fmla="val 35000"/>
            </a:avLst>
          </a:prstGeom>
          <a:solidFill>
            <a:srgbClr val="7AA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2322576"/>
            <a:ext cx="40233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49440" y="224028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El flujo de 11 etapas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49440" y="2542032"/>
            <a:ext cx="45720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Gates deterministas; el humano posee las decisiones.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17920" y="3017520"/>
            <a:ext cx="5349240" cy="7772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400800" y="3182112"/>
            <a:ext cx="402336" cy="402336"/>
          </a:xfrm>
          <a:prstGeom prst="roundRect">
            <a:avLst>
              <a:gd name="adj" fmla="val 35000"/>
            </a:avLst>
          </a:prstGeom>
          <a:solidFill>
            <a:srgbClr val="7AA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0" y="3191256"/>
            <a:ext cx="40233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49440" y="310896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Las tools del método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49440" y="3410712"/>
            <a:ext cx="45720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CodeGraph · Serena · oráculos: barato→caro; GSD = el método productizado.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17920" y="3886200"/>
            <a:ext cx="5349240" cy="7772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6400800" y="4050791"/>
            <a:ext cx="402336" cy="402336"/>
          </a:xfrm>
          <a:prstGeom prst="roundRect">
            <a:avLst>
              <a:gd name="adj" fmla="val 35000"/>
            </a:avLst>
          </a:prstGeom>
          <a:solidFill>
            <a:srgbClr val="7AA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0" y="4059936"/>
            <a:ext cx="40233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49440" y="3977639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Transferible y hasta en ops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49440" y="4279392"/>
            <a:ext cx="45720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Starter-kit probado en Copilot; machine-sync con guardrails.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217920" y="4754879"/>
            <a:ext cx="5349240" cy="7772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400800" y="4919471"/>
            <a:ext cx="402336" cy="402336"/>
          </a:xfrm>
          <a:prstGeom prst="roundRect">
            <a:avLst>
              <a:gd name="adj" fmla="val 35000"/>
            </a:avLst>
          </a:prstGeom>
          <a:solidFill>
            <a:srgbClr val="7AA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0800" y="4928616"/>
            <a:ext cx="40233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4846319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El grafo de tickets (graphify)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49440" y="5148071"/>
            <a:ext cx="45720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507 nodos · 35 comunidades: history-first sin LLM.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0080" y="58064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6707E"/>
                </a:solidFill>
                <a:latin typeface="Segoe UI"/>
              </a:rPr>
              <a:t>Referencias:  code.claude.com/docs  ·  github.com/tomascortereal/claude-code-setup  ·  colbymchenry.github.io/codegraph  ·  github.com/oraios/serena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5" name="Rectangle 114">
            <a:extLst>
              <a:ext uri="{FF2B5EF4-FFF2-40B4-BE49-F238E27FC236}">
                <a16:creationId xmlns:a16="http://schemas.microsoft.com/office/drawing/2014/main" id="{928F64C6-FE22-4FC1-A763-DFCC514811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4261224" y="4577975"/>
            <a:ext cx="7539349" cy="1899827"/>
          </a:xfrm>
          <a:prstGeom prst="rect">
            <a:avLst/>
          </a:prstGeom>
          <a:solidFill>
            <a:srgbClr val="404040"/>
          </a:solidFill>
          <a:ln w="127000" cap="sq" cmpd="thinThick">
            <a:solidFill>
              <a:srgbClr val="40404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D1F85BB-65D7-0B6B-A637-312ABF2024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603468" y="4741948"/>
            <a:ext cx="6829520" cy="862031"/>
          </a:xfrm>
        </p:spPr>
        <p:txBody>
          <a:bodyPr>
            <a:norm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</a:rPr>
              <a:t>Agentic Ai</a:t>
            </a:r>
            <a:br>
              <a:rPr lang="en-US" sz="1600" b="1">
                <a:solidFill>
                  <a:srgbClr val="FFFFFF"/>
                </a:solidFill>
              </a:rPr>
            </a:br>
            <a:br>
              <a:rPr lang="en-US" sz="1600" b="1">
                <a:solidFill>
                  <a:srgbClr val="FFFFFF"/>
                </a:solidFill>
              </a:rPr>
            </a:br>
            <a:r>
              <a:rPr lang="en-US" sz="1600" b="1">
                <a:solidFill>
                  <a:srgbClr val="FFFFFF"/>
                </a:solidFill>
              </a:rPr>
              <a:t>Claude Code: from assistant to agentic developing system</a:t>
            </a:r>
            <a:endParaRPr lang="en-GB" sz="1600">
              <a:solidFill>
                <a:srgbClr val="FFFFFF"/>
              </a:solidFill>
            </a:endParaRPr>
          </a:p>
        </p:txBody>
      </p:sp>
      <p:pic>
        <p:nvPicPr>
          <p:cNvPr id="116" name="Picture 11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636" y="444074"/>
            <a:ext cx="3797570" cy="1765870"/>
          </a:xfrm>
          <a:prstGeom prst="rect">
            <a:avLst/>
          </a:prstGeom>
        </p:spPr>
      </p:pic>
      <p:pic>
        <p:nvPicPr>
          <p:cNvPr id="117" name="Picture 11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8922" y="2422097"/>
            <a:ext cx="2432184" cy="2013804"/>
          </a:xfrm>
          <a:prstGeom prst="rect">
            <a:avLst/>
          </a:prstGeom>
        </p:spPr>
      </p:pic>
      <p:pic>
        <p:nvPicPr>
          <p:cNvPr id="118" name="Picture 11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02549" y="480651"/>
            <a:ext cx="3793472" cy="3793484"/>
          </a:xfrm>
          <a:prstGeom prst="rect">
            <a:avLst/>
          </a:prstGeom>
        </p:spPr>
      </p:pic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5C34627B-48E6-4F4D-B843-97717A86B4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719934" y="5694097"/>
            <a:ext cx="5486400" cy="0"/>
          </a:xfrm>
          <a:prstGeom prst="line">
            <a:avLst/>
          </a:prstGeom>
          <a:ln w="15875">
            <a:solidFill>
              <a:srgbClr val="D9D9D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9" name="Picture 11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81711" y="4525715"/>
            <a:ext cx="1866605" cy="2010551"/>
          </a:xfrm>
          <a:prstGeom prst="rect">
            <a:avLst/>
          </a:prstGeom>
        </p:spPr>
      </p:pic>
      <p:grpSp>
        <p:nvGrpSpPr>
          <p:cNvPr id="16" name="Group 15">
            <a:extLst>
              <a:ext uri="{FF2B5EF4-FFF2-40B4-BE49-F238E27FC236}">
                <a16:creationId xmlns:a16="http://schemas.microsoft.com/office/drawing/2014/main" id="{0B591550-236E-C092-2595-79DBAAF3ABAD}"/>
              </a:ext>
            </a:extLst>
          </p:cNvPr>
          <p:cNvGrpSpPr/>
          <p:nvPr/>
        </p:nvGrpSpPr>
        <p:grpSpPr>
          <a:xfrm>
            <a:off x="8086176" y="737057"/>
            <a:ext cx="3797984" cy="3280672"/>
            <a:chOff x="8086176" y="737057"/>
            <a:chExt cx="3797984" cy="3280672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0BDF5EB6-DF3D-702D-7DAE-67542339608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086176" y="737057"/>
              <a:ext cx="3797984" cy="3280672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AF4BD6C5-8DF2-E669-7A95-169D1F56ACC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8218841" y="840007"/>
              <a:ext cx="1295581" cy="323895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>
            <a:extLst>
              <a:ext uri="{FF2B5EF4-FFF2-40B4-BE49-F238E27FC236}">
                <a16:creationId xmlns:a16="http://schemas.microsoft.com/office/drawing/2014/main" id="{EE30954D-B99B-5794-83DE-E304686660F1}"/>
              </a:ext>
            </a:extLst>
          </p:cNvPr>
          <p:cNvSpPr/>
          <p:nvPr/>
        </p:nvSpPr>
        <p:spPr>
          <a:xfrm>
            <a:off x="-82296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160B63D-C1F5-00FC-B7C0-84A9C5972257}"/>
              </a:ext>
            </a:extLst>
          </p:cNvPr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7CE552-5271-A4ED-EF57-A2731E4BB67E}"/>
              </a:ext>
            </a:extLst>
          </p:cNvPr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06 · SUBAGENTS Y AGENT TEAMS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2F3A10A-ABB9-3449-03D2-98D8A7A83EBF}"/>
              </a:ext>
            </a:extLst>
          </p:cNvPr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Agent Teams: varios Claudes que se coordinan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2815B85-1E66-F07E-E8C4-BCF5AD623A6E}"/>
              </a:ext>
            </a:extLst>
          </p:cNvPr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69D23D4-2CE1-8A2D-4E18-ECE73B85D37F}"/>
              </a:ext>
            </a:extLst>
          </p:cNvPr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F96997B-B88D-4C1F-6A97-7E31D4373D01}"/>
              </a:ext>
            </a:extLst>
          </p:cNvPr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16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2E047FE3-F06A-A831-7182-18CA8413D426}"/>
              </a:ext>
            </a:extLst>
          </p:cNvPr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7408" y="750198"/>
            <a:ext cx="11594592" cy="5648647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08 · LA METODOLOGÍA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461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dirty="0">
                <a:solidFill>
                  <a:srgbClr val="E8EAED"/>
                </a:solidFill>
                <a:latin typeface="Segoe UI"/>
              </a:rPr>
              <a:t>Un ejemplo real: arquitectura de la aplicación</a:t>
            </a:r>
            <a:endParaRPr sz="3000" b="1" dirty="0">
              <a:solidFill>
                <a:srgbClr val="E8EAED"/>
              </a:solidFill>
              <a:latin typeface="Segoe UI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83080"/>
            <a:ext cx="10927080" cy="566928"/>
          </a:xfrm>
          <a:prstGeom prst="roundRect">
            <a:avLst>
              <a:gd name="adj" fmla="val 10000"/>
            </a:avLst>
          </a:prstGeom>
          <a:solidFill>
            <a:srgbClr val="222B38"/>
          </a:solidFill>
          <a:ln w="9525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51560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Segoe UI"/>
              </a:rPr>
              <a:t>Bug QA: </a:t>
            </a:r>
            <a:r>
              <a:rPr sz="1250" b="0">
                <a:solidFill>
                  <a:srgbClr val="E8EAED"/>
                </a:solidFill>
                <a:latin typeface="Segoe UI"/>
              </a:rPr>
              <a:t>“un campo sale vacío en la UI, pero está escrito en el PDF.”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542032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40080" y="2542032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" y="2578608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Orientar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578608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/kg saca la zona de peligro (un SHARP_EDGE que restringe el fix); git/gh dan la base.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054096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640080" y="3054096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68680" y="3090672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Contrato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3090672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El campo está vacío en el JSON del endpoint (Playwright/F12) → el Lambda es responsable.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566160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640080" y="3566160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68680" y="3602736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Provenance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3602736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Re-extraer en la base previa: ya salía vacío → pre-existente, no regresión.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4078224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640080" y="4078224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68680" y="4114800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Investigar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411480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Serena + CodeGraph localizan el detector; un _diag_pdf.py determinista da la causa: SIN LLM.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4590288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640080" y="4590288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68680" y="4626864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Fix + verificar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0" y="4626864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Test RED → fix estructural (no cliente) → regresión no-op + contrato local (wrapper) + dentro de la imagen desplegada.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" y="5102352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640080" y="5102352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68680" y="5138928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Handoff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00400" y="5138928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Sanitizar → el humano hace push/PR. Un bot detecta un caso más → test + PLAYBOOK.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ounded Rectangle 35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El modelo no gana confianza gratis: la gana decisión a decisión, con evidencia.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358" y="1387551"/>
            <a:ext cx="11308842" cy="541331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