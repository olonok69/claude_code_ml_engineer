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292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93" r:id="rId15"/>
    <p:sldId id="268" r:id="rId16"/>
    <p:sldId id="269" r:id="rId17"/>
    <p:sldId id="270" r:id="rId18"/>
    <p:sldId id="271" r:id="rId19"/>
    <p:sldId id="294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0A915-3F6C-42F1-BEFD-E7D452B2D3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A847D-62AE-767A-506C-5A8EFB6B7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DCB44-D827-70F7-D90F-5B32CB1AB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5A4A1-E9E2-C141-4B8D-39BF3B8D4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D3FD0-E752-2CBE-61DA-4CDD5743C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1989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18522-75F0-C278-6E93-CA30104FA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81685-227E-128F-BC30-C654D1E0F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F6B14-04EA-17CE-E42A-397A9E1A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918F9-0615-71D8-F2DD-54F68CCDA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81C4F1-8A9A-2A48-A321-421A432A9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34845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AEF26-2F51-1733-6AEF-9280CC345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14F98-0764-6E60-27B0-5E57ACD5ED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0F9B0-CBBD-F94E-C0AC-45DE7901D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837EB-0AF7-9330-C27F-29345A300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37196-10D9-6B4A-82BB-559A03E4A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23814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8FD63-8AE3-DE5A-FE44-E7E2DE1D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AE664-EC92-D139-38C3-BF9875ED4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CA4A7C-E733-4A5C-C633-B46CF4CFE5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4747F5-8416-1226-AF77-C55D81D08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98BA7F-CE9B-679C-C711-24692D7AA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716BBC-8845-D159-A31B-2280584E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63336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75EEF-8BDB-54CC-5182-E4FA9FC46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62F81-3800-3C25-68A7-53FDA1689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88B83-D5D7-8567-F4CA-1EA8CA1A2C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D1231F-2D5A-4A4B-7B98-20C8B5283D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E6405D-3730-BE51-E334-39381A7B37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A5A373-F82D-D329-481E-858FD5A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ED4A62-1ECD-D79E-A2CF-DAFAF3AD1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34ADCC-F10D-3B96-6AA4-1AE08DC4F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21587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CFAB5-BB91-A5B9-4766-E5069E4B7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B46227-1E11-2C78-1EA6-4E7B2F2C8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1C9488-4D25-7404-D601-6364700FC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BBAB07-2F7F-5E12-E069-31D758B37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1521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FA0342-315B-7453-D23E-194840221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2AA699-8312-27CC-5D9B-95EBAF1CD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38FD30-2D05-CC48-8E40-8B744AA0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06823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D75ED-58BB-8D92-57C9-C15782B87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E3329-3ED5-1188-B8ED-4E0F986B0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70EC2F-E858-7E41-0A67-F93A4A5590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D805A0-98F7-499E-B879-4A3F6A44E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411C5C-B1EB-91CA-6B8A-474CC888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A43C7-32D7-1123-469A-4F683328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89941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BD34C-52A5-D87E-FCA2-B7FAEA67D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E5D5C2-9925-E6F0-5864-83BC59E7C2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C767EC-03EA-76DA-FD35-B01A3FB0C2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B5BD7A-913B-7FDB-597B-FC57963CD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19DECF-3DE6-C485-8AFB-936AA698E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AE66D9-180C-ED7A-849A-5EB4E5D35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68032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85B79-F01C-804C-4E61-1A47DA438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E67148-1BF1-63D6-C79F-0B92D410B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FDAD9-7303-C2EC-B274-F1DE2C4F5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927E0-23E6-C7A2-DD58-999844473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B75326-E6D1-014A-49FC-94FC2B511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9751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137A79-42D3-4C33-7433-7367718298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6CA469-E72C-78CB-2781-A427579FED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5D210-5A80-BA39-ED14-3A2E0142D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A1660-31E5-9DDB-4167-A5C6CD171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AC283F-675B-9C6F-FF2D-0D967C5F3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245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5646AC-8053-7E85-E5C0-6E3F03E4C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EB08D-2A32-D722-4E7A-1328F035D7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3F96A-30B8-B087-4978-186C09D6F1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6CAF03-6D07-473F-9655-B5E7F3C4F9BA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D6FEE3-A5A7-6135-A2F0-BED2FD872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AC338-8D5B-F469-A5F7-93410D6A27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3345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261224" y="4577975"/>
            <a:ext cx="7539349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03468" y="4741948"/>
            <a:ext cx="6829520" cy="862031"/>
          </a:xfrm>
        </p:spPr>
        <p:txBody>
          <a:bodyPr>
            <a:norm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Agentic Ai</a:t>
            </a:r>
            <a:br>
              <a:rPr lang="en-US" sz="1600" b="1">
                <a:solidFill>
                  <a:srgbClr val="FFFFFF"/>
                </a:solidFill>
              </a:rPr>
            </a:br>
            <a:br>
              <a:rPr lang="en-US" sz="1600" b="1">
                <a:solidFill>
                  <a:srgbClr val="FFFFFF"/>
                </a:solidFill>
              </a:rPr>
            </a:br>
            <a:r>
              <a:rPr lang="en-US" sz="1600" b="1">
                <a:solidFill>
                  <a:srgbClr val="FFFFFF"/>
                </a:solidFill>
              </a:rPr>
              <a:t>Claude Code: from assistant to agentic developing system</a:t>
            </a:r>
            <a:endParaRPr lang="en-GB" sz="1600">
              <a:solidFill>
                <a:srgbClr val="FFFFFF"/>
              </a:solidFill>
            </a:endParaRPr>
          </a:p>
        </p:txBody>
      </p:sp>
      <p:pic>
        <p:nvPicPr>
          <p:cNvPr id="10" name="Picture 9" descr="Graphify">
            <a:extLst>
              <a:ext uri="{FF2B5EF4-FFF2-40B4-BE49-F238E27FC236}">
                <a16:creationId xmlns:a16="http://schemas.microsoft.com/office/drawing/2014/main" id="{ADFB43AB-A93E-8772-1D14-822EE9B4CC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36" y="444074"/>
            <a:ext cx="3797570" cy="176587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C1F2CA2-DE15-47C8-239C-57F5DB9A8E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922" y="2422097"/>
            <a:ext cx="2432184" cy="2013804"/>
          </a:xfrm>
          <a:prstGeom prst="rect">
            <a:avLst/>
          </a:prstGeom>
        </p:spPr>
      </p:pic>
      <p:pic>
        <p:nvPicPr>
          <p:cNvPr id="8" name="Picture 7" descr="A white starburst on a red background&#10;&#10;AI-generated content may be incorrect.">
            <a:extLst>
              <a:ext uri="{FF2B5EF4-FFF2-40B4-BE49-F238E27FC236}">
                <a16:creationId xmlns:a16="http://schemas.microsoft.com/office/drawing/2014/main" id="{56B3ADC5-775B-99D8-6DA6-12E101DC348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85" r="2985" b="-4"/>
          <a:stretch>
            <a:fillRect/>
          </a:stretch>
        </p:blipFill>
        <p:spPr>
          <a:xfrm>
            <a:off x="4202549" y="480651"/>
            <a:ext cx="3793472" cy="3793484"/>
          </a:xfrm>
          <a:prstGeom prst="rect">
            <a:avLst/>
          </a:prstGeom>
        </p:spPr>
      </p:pic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19934" y="5694097"/>
            <a:ext cx="54864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logo of a machine learning engineer&#10;&#10;AI-generated content may be incorrect.">
            <a:extLst>
              <a:ext uri="{FF2B5EF4-FFF2-40B4-BE49-F238E27FC236}">
                <a16:creationId xmlns:a16="http://schemas.microsoft.com/office/drawing/2014/main" id="{B974484C-9450-0A16-98B9-ED33CB95F57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26" r="12996"/>
          <a:stretch>
            <a:fillRect/>
          </a:stretch>
        </p:blipFill>
        <p:spPr>
          <a:xfrm>
            <a:off x="1281711" y="4525715"/>
            <a:ext cx="1866605" cy="201055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B591550-236E-C092-2595-79DBAAF3ABAD}"/>
              </a:ext>
            </a:extLst>
          </p:cNvPr>
          <p:cNvGrpSpPr/>
          <p:nvPr/>
        </p:nvGrpSpPr>
        <p:grpSpPr>
          <a:xfrm>
            <a:off x="8086176" y="737057"/>
            <a:ext cx="3797984" cy="3280672"/>
            <a:chOff x="8086176" y="737057"/>
            <a:chExt cx="3797984" cy="328067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BDF5EB6-DF3D-702D-7DAE-675423396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6176" y="737057"/>
              <a:ext cx="3797984" cy="328067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F4BD6C5-8DF2-E669-7A95-169D1F56A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18841" y="840007"/>
              <a:ext cx="1295581" cy="3238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3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8976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dirty="0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Claude Code: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instalación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· memoria ·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contexto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&amp; caching · MCP · skills · subagents &amp; teams ·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automatización</a:t>
            </a:r>
            <a:endParaRPr sz="1350" b="0" dirty="0">
              <a:solidFill>
                <a:srgbClr val="9AA4B2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dirty="0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La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metodología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(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agnóstica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):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flujo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con gates ·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CodeGraph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/ Serena /</a:t>
            </a:r>
            <a:r>
              <a:rPr lang="en-GB" sz="1350" b="0" dirty="0">
                <a:solidFill>
                  <a:srgbClr val="9AA4B2"/>
                </a:solidFill>
                <a:latin typeface="Segoe UI"/>
              </a:rPr>
              <a:t> </a:t>
            </a:r>
            <a:r>
              <a:rPr lang="en-GB" sz="1350" b="0" dirty="0" err="1">
                <a:solidFill>
                  <a:srgbClr val="9AA4B2"/>
                </a:solidFill>
                <a:latin typeface="Segoe UI"/>
              </a:rPr>
              <a:t>Graphify</a:t>
            </a:r>
            <a:r>
              <a:rPr lang="en-GB" sz="1350" b="0" dirty="0">
                <a:solidFill>
                  <a:srgbClr val="9AA4B2"/>
                </a:solidFill>
                <a:latin typeface="Segoe UI"/>
              </a:rPr>
              <a:t> /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GSD ·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transferencia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dirty="0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El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grafo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de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conocimiento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de tickets,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construido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con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graphify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: pipeline,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comandos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/kg y el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grafo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GSD, CodeGraph y una instalación real en producción.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Plugins, tools y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 y Agent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 la metodología (Copilot)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comandos /kg · el grafo real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binario en tu terminal a equipos de agentes.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Plugins, tools 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 y Agent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1">
            <a:extLst>
              <a:ext uri="{FF2B5EF4-FFF2-40B4-BE49-F238E27FC236}">
                <a16:creationId xmlns:a16="http://schemas.microsoft.com/office/drawing/2014/main" id="{E1EF55B5-02EB-859C-3637-47B7C2B3E7F8}"/>
              </a:ext>
            </a:extLst>
          </p:cNvPr>
          <p:cNvSpPr/>
          <p:nvPr/>
        </p:nvSpPr>
        <p:spPr>
          <a:xfrm>
            <a:off x="621792" y="4087369"/>
            <a:ext cx="5353812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206237"/>
            <a:ext cx="53949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7AA2C7"/>
                </a:solidFill>
                <a:latin typeface="Segoe UI"/>
              </a:rPr>
              <a:t>Arrancar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en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cualquier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proyecto</a:t>
            </a:r>
            <a:endParaRPr sz="1400" b="1" dirty="0">
              <a:solidFill>
                <a:srgbClr val="7AA2C7"/>
              </a:solidFill>
              <a:latin typeface="Segoe U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47522" y="4663438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cd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tu-proyecto</a:t>
            </a:r>
            <a:endParaRPr sz="1150" b="0" dirty="0">
              <a:solidFill>
                <a:srgbClr val="E8EAED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E8EAED"/>
                </a:solidFill>
                <a:latin typeface="Consolas"/>
              </a:rPr>
              <a:t>claude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            # login la 1ª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vez</a:t>
            </a:r>
            <a:endParaRPr sz="1150" b="0" dirty="0">
              <a:solidFill>
                <a:srgbClr val="E8EAED"/>
              </a:solidFill>
              <a:latin typeface="Consola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217920" y="4078222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55664" y="4174233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>
                <a:solidFill>
                  <a:srgbClr val="7AA2C7"/>
                </a:solidFill>
                <a:latin typeface="Segoe UI"/>
              </a:rPr>
              <a:t>El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mismo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motor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en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todas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9380" y="4608573"/>
            <a:ext cx="475488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Desktop (diffs,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sesiones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en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paralelo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Web (claude.ai/code,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tareas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largas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combinan; @fichero importa)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~4.200 tokens — oculto,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Auto-memory + entorno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~680 + ~280 tokens al arrancar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índice ~120 tokens; el schema, al usar la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Tu CLAUDE.md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que tú decidas — por eso el patrón de dos niveles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tool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# desglose de uso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céntrate en la API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/clear     # reset entre tareas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/rewind    # checkpoints (Esc+Esc)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Ventana: 200K tokens (1M en beta vía API). </a:t>
            </a:r>
            <a:r>
              <a:rPr sz="1200" b="0">
                <a:solidFill>
                  <a:srgbClr val="9AA4B2"/>
                </a:solidFill>
                <a:latin typeface="Segoe UI"/>
              </a:rPr>
              <a:t>El rendimiento degrada ANTES de llenarla: contexto con ruido = peores decisiones. Auto-compact salta cerca del límite y es lossy — mejor /compact manual con foco.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Mide con /context antes de optimizar: te dice exactamente qué bloque engorda.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CLAUDE.md mínimo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Regla oficial: si puedes borrarlo sin que Claude se equivoque, bórralo. Dos niveles + punteros.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Carga bajo demanda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@imports y CLAUDE.md de subcarpeta solo cargan cuando tocan. El detalle vive fuera.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Subagentes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subagente (sección 06); vuelve solo el resumen.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Explore → Plan →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config/auth.js” &gt; “entiende el auth”. Adelanto: CodeGraph-primero (Parte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Cada turno reenvía TODO el contexto. La API cachea el prefijo estable —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mira los contadores de cache.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 en Claude Code: tú decides el hit-rate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CLAUDE.md pequeño y estable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nunca cambia → hits en cada turno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CLAUDE.md/settings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prefijo → invalida el cache desde ahí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escrituras caras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Sesión larga, turnos frecuentes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El historial se relee a 0.1× — el caso ideal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/compact o auto-compact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Reescribe el historial → rompe el cache de mensajes una vez, y sigue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047488"/>
            <a:ext cx="10927080" cy="5533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dirty="0">
                <a:solidFill>
                  <a:srgbClr val="9AA4B2"/>
                </a:solidFill>
                <a:latin typeface="Segoe UI"/>
              </a:rPr>
              <a:t>Claude Code lo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aplica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solo (system + tools +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historial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prefijo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). </a:t>
            </a:r>
            <a:r>
              <a:rPr sz="1100" b="1" dirty="0">
                <a:solidFill>
                  <a:srgbClr val="E8EAED"/>
                </a:solidFill>
                <a:latin typeface="Segoe UI"/>
              </a:rPr>
              <a:t>TTL </a:t>
            </a:r>
            <a:r>
              <a:rPr sz="1100" b="1" dirty="0" err="1">
                <a:solidFill>
                  <a:srgbClr val="E8EAED"/>
                </a:solidFill>
                <a:latin typeface="Segoe UI"/>
              </a:rPr>
              <a:t>por</a:t>
            </a:r>
            <a:r>
              <a:rPr sz="1100" b="1" dirty="0">
                <a:solidFill>
                  <a:srgbClr val="E8EAED"/>
                </a:solidFill>
                <a:latin typeface="Segoe UI"/>
              </a:rPr>
              <a:t> </a:t>
            </a:r>
            <a:r>
              <a:rPr sz="1100" b="1" dirty="0" err="1">
                <a:solidFill>
                  <a:srgbClr val="E8EAED"/>
                </a:solidFill>
                <a:latin typeface="Segoe UI"/>
              </a:rPr>
              <a:t>defecto</a:t>
            </a:r>
            <a:r>
              <a:rPr sz="1100" b="1" dirty="0">
                <a:solidFill>
                  <a:srgbClr val="E8EAED"/>
                </a:solidFill>
                <a:latin typeface="Segoe UI"/>
              </a:rPr>
              <a:t>: 1 h con </a:t>
            </a:r>
            <a:r>
              <a:rPr sz="1100" b="1" dirty="0" err="1">
                <a:solidFill>
                  <a:srgbClr val="E8EAED"/>
                </a:solidFill>
                <a:latin typeface="Segoe UI"/>
              </a:rPr>
              <a:t>suscripción</a:t>
            </a:r>
            <a:r>
              <a:rPr sz="1100" b="1" dirty="0">
                <a:solidFill>
                  <a:srgbClr val="E8EAED"/>
                </a:solidFill>
                <a:latin typeface="Segoe UI"/>
              </a:rPr>
              <a:t> · 5 min con API key. 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Cambiar/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apagar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por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env var: </a:t>
            </a:r>
            <a:r>
              <a:rPr sz="1050" b="0" dirty="0">
                <a:solidFill>
                  <a:srgbClr val="D97757"/>
                </a:solidFill>
                <a:latin typeface="Consolas"/>
              </a:rPr>
              <a:t>ENABLE_PROMPT_CACHING_1H · FORCE_PROMPT_CACHING_5M · DISABLE_PROMPT_CACHING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. Cada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lectura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renueva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la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ventana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: con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suscripción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una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pausa de hasta 1 h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sigue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</a:t>
            </a:r>
            <a:r>
              <a:rPr lang="en-GB" sz="1100" b="0" dirty="0" err="1">
                <a:solidFill>
                  <a:srgbClr val="9AA4B2"/>
                </a:solidFill>
                <a:latin typeface="Segoe UI"/>
              </a:rPr>
              <a:t>en</a:t>
            </a:r>
            <a:r>
              <a:rPr lang="en-GB" sz="1100" b="0" dirty="0">
                <a:solidFill>
                  <a:srgbClr val="9AA4B2"/>
                </a:solidFill>
                <a:latin typeface="Segoe UI"/>
              </a:rPr>
              <a:t> cache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8680" y="5944156"/>
            <a:ext cx="1060704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dirty="0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Contexto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>hay </a:t>
            </a:r>
            <a:r>
              <a:rPr lang="en-GB" sz="1250" b="0" dirty="0" err="1">
                <a:solidFill>
                  <a:srgbClr val="E8EAED"/>
                </a:solidFill>
                <a:latin typeface="Segoe UI"/>
              </a:rPr>
              <a:t>que</a:t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le</a:t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>er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y </a:t>
            </a:r>
            <a:r>
              <a:rPr lang="en-GB" sz="1250" b="0" dirty="0" err="1">
                <a:solidFill>
                  <a:srgbClr val="E8EAED"/>
                </a:solidFill>
                <a:latin typeface="Segoe UI"/>
              </a:rPr>
              <a:t>esto</a:t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> lo </a:t>
            </a:r>
            <a:r>
              <a:rPr lang="en-GB" sz="1250" b="0" dirty="0" err="1">
                <a:solidFill>
                  <a:srgbClr val="E8EAED"/>
                </a:solidFill>
                <a:latin typeface="Segoe UI"/>
              </a:rPr>
              <a:t>hace</a:t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> mas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estable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rinde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mejor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>y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cuesta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menos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: dos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niveles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optimiza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ambos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ejes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 a la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vez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>.</a:t>
            </a:r>
            <a:r>
              <a:rPr sz="1300" b="1" dirty="0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cada server suma contexto — sección 03)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La 5ª capa — subagentes y equipos de agentes — merece sección propia: es la siguiente.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 Plugin = el reparto.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Subagentes: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Built-ins (tool Task)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Explore — búsqueda read-only por el codebase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— diseñar la estrategia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general-purpose — multi-paso, todos los 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paralelo para trabajo independiente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Custom: un .md con frontmatter (/agents los lista)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377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2057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.claude/agents/security-reviewer.md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security-reviewer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Revisa vulnerabilidades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tras cambios en auth o deps.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Read, Grep, Glob,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model: opus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Eres un ingeniero de seguridad senior…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7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7"/>
            <a:ext cx="484632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contexto en el 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description = auto-selección · tools = allowlist propio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Ejemplos reales en ejemplos/subagents/: security-reviewer y refactor-scout (regla CodeGraph→Serena).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La arquitectura (experimental)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Lead + teammates: cada uno una SESIÓN completa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Task list compartida: ~/.claude/tasks/&lt;team&gt;/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Mensajería directa entre teammates (inboxes)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Pueden debatir hallazgos, no solo reportar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= tus subagentes custom reutilizados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Activar (off por defecto)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~/.claude/settings.json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"env": { "CLAUDE_CODE_EXPERIMENTAL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_AGENT_TEAMS": "1" 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"teammateMode": "in-process" }  // tmux|iterm2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Límites hoy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/resume in-process · un team por sesión · sin anidar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Split-panes requiere tmux o iTerm2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teammate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“monta un equipo con un architect y dos implementers; exige aprobación de plan antes de tocar código”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Particiona los ficheros: cada teammate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D53B7-85B5-6281-9492-98EA3A5A0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30954D-B99B-5794-83DE-E304686660F1}"/>
              </a:ext>
            </a:extLst>
          </p:cNvPr>
          <p:cNvSpPr/>
          <p:nvPr/>
        </p:nvSpPr>
        <p:spPr>
          <a:xfrm>
            <a:off x="-82296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60B63D-C1F5-00FC-B7C0-84A9C5972257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7CE552-5271-A4ED-EF57-A2731E4BB67E}"/>
              </a:ext>
            </a:extLst>
          </p:cNvPr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3A10A-ABB9-3449-03D2-98D8A7A83EBF}"/>
              </a:ext>
            </a:extLst>
          </p:cNvPr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815B85-1E66-F07E-E8C4-BCF5AD623A6E}"/>
              </a:ext>
            </a:extLst>
          </p:cNvPr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9D23D4-2CE1-8A2D-4E18-ECE73B85D37F}"/>
              </a:ext>
            </a:extLst>
          </p:cNvPr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96997B-B88D-4C1F-6A97-7E31D4373D01}"/>
              </a:ext>
            </a:extLst>
          </p:cNvPr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E047FE3-F06A-A831-7182-18CA8413D426}"/>
              </a:ext>
            </a:extLst>
          </p:cNvPr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06D701D-CA3C-5F04-BE9A-F9D9D0165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408" y="750198"/>
            <a:ext cx="11594592" cy="5648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621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¿Subagente o team?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AGENT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teammate = sesión completa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Task list + mensajes entre teammates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en paralelo)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Paralelismo real: revisión multi-capa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Nada, o .claude/agents/*.md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Env var experimental + settings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empaqueta exactamente esto — gsd-planner, gsd-executor, gsd-verifier son subagentes custom como plugin (este proyecto usa el flujo data/changes/, no GSD — ver Parte 2).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Subagente para que el ruido muera fuera; team para que varios Claudes debatan.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892808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8397" y="426110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dirty="0">
                <a:solidFill>
                  <a:srgbClr val="7AA2C7"/>
                </a:solidFill>
                <a:latin typeface="Segoe UI"/>
              </a:rPr>
              <a:t>Agent SDK — workflows a 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medida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(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menor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privilegio)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736592"/>
            <a:ext cx="10469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import { query } from "@anthropic-ai/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claude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-agent-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sdk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for await (const m of query({ prompt, options: {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allowedTools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  if (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m.type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 === "result") console.log(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m.result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Claude Code, pero la disciplina viaja.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 a otro agente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Claude Code — es una forma de trabajar con CUALQUIER agente. La sección 10 lo demuestra transfiriéndola a GitHub Copilot.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local). Survey en 1 llamada: fuente + callers + blast radius + cobertura.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LSP. find_referencing_symbols desambigua por clase: el chequeo preciso antes de renombrar.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(subagentes gsd-* + .planning/). Para greenfield multi-fase; este proyecto usa data/changes/, no GSD.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Grafo de tickets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LLM.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endParaRPr sz="1150" b="0">
              <a:solidFill>
                <a:srgbClr val="E8EAED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9270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¿Lo usamos aquí? No: </a:t>
            </a:r>
            <a:r>
              <a:rPr sz="1150" b="0">
                <a:solidFill>
                  <a:srgbClr val="9AA4B2"/>
                </a:solidFill>
                <a:latin typeface="Segoe UI"/>
              </a:rPr>
              <a:t>este proyecto corre el flujo de 11 etapas + data/changes/, más depurado para fixes por ticket. GSD encaja en un greenfield multi-componente (roadmap → fases). Aquí ilustra la Parte 1: subagentes custom + skills como plugin.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productizado: GSD para greenfield multi-fase; aquí, data/changes/ afinado a fixes por ticket.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escribe el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 --path fija el repo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serena -- uvx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--from git+https://github.com/oraios/serena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serena start-mcp-server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El subagente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(ejemplos/subagents/) empaqueta el orden CodeGraph → Serena → grep como procedimiento.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de que es agnóstica: llevarla a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 re-mapea por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contrato: HTTP / DB / evento / artefacto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tracker: Jira · Azure Boards · Issues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pirámide de tests y el runtime desplegado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reglas de sanitización locales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tools: Serena/CodeGraph//kg son fungibles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Plantillas STATUS · SHARP_EDGES · handover · QA + bootstrap-new-repo.ps1 → estructura en el repo destino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grafo de tickets: fallback determinista (STATUS newest-first + búsqueda léxica + historia de commits) = 80% del valor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 solo conservas cinco reglas, conserva esas cinco. Las tools se sustituyen; la disciplina viaja.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(/kg) + target-setup.sh rehacen el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/kg-refresh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no con CodeGraph: la memoria del proyecto, navegable.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(/kg, /kg-refresh)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La Fase 1 fue un SPIKE con decisión keep/extend/replace: validar graphify off-the-shelf antes de invertir en extracción custom. Bastó — y se quedó.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comandos creados en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/kg-refresh)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9659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/graphify &lt;scratch&gt;     # ÚNICO paso con LLM: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y /kg-refresh — skills de Claude 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245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/kg-refresh es un skill, no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(/graphify, subagentes en paralelo) es un paso de Claude; los bookends son deterministas.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69680" y="1783080"/>
            <a:ext cx="2697480" cy="31089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panel de info, filtro por comunidad (vis-network).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8288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&lt;ticket|tema&gt;  # vecinos  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# camino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# nombre exacto de nodo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# reconstruir (barato)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del CLAUDE.md: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/kg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59" cy="9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Una línea; CLAUDE.md de dos niveles; sesiones que viajan.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plugins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&amp; teams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Starter-kit probado en Copilot; machine-sync con guardrails.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1291</TotalTime>
  <Words>5815</Words>
  <Application>Microsoft Office PowerPoint</Application>
  <PresentationFormat>Widescreen</PresentationFormat>
  <Paragraphs>680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Calibri</vt:lpstr>
      <vt:lpstr>Consolas</vt:lpstr>
      <vt:lpstr>Segoe UI</vt:lpstr>
      <vt:lpstr>Office Theme</vt:lpstr>
      <vt:lpstr>1_Office Theme</vt:lpstr>
      <vt:lpstr>Agentic Ai  Claude Code: from assistant to agentic developing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 SHR</cp:lastModifiedBy>
  <cp:revision>6</cp:revision>
  <dcterms:created xsi:type="dcterms:W3CDTF">2013-01-27T09:14:16Z</dcterms:created>
  <dcterms:modified xsi:type="dcterms:W3CDTF">2026-07-19T15:35:29Z</dcterms:modified>
  <cp:category/>
</cp:coreProperties>
</file>