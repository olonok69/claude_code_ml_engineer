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5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SESIÓN TÉCNICA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5156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Claude Code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de asistente a </a:t>
            </a:r>
            <a:r>
              <a:rPr sz="2600" b="1">
                <a:solidFill>
                  <a:srgbClr val="E8EAED"/>
                </a:solidFill>
                <a:latin typeface="Segoe UI"/>
              </a:rPr>
              <a:t>sistema de desarrollo agéntico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977639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20624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9AA4B2"/>
                </a:solidFill>
                <a:latin typeface="Segoe UI"/>
              </a:rPr>
              <a:t>Instalación · Memoria &amp; sesiones · MCP · Skills &amp; plugins · Automatización · Metodología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Basado en la documentación oficial (code.claude.com), el curso de hooks de Anthropic, GSD y CodeGraph.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vamos a recorrer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Instalación y uso básico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Instalar en una línea; interactivo vs headless (-p)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19672" y="202082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0" y="20574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Memoria, instrucciones y sesiones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0" y="244144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CLAUDE.md de dos niveles, permisos, sesiones que viajan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611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Conectar tus herramientas: scopes y servers reales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10896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19672" y="325526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0" y="329184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Plugins, tools y skills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0" y="3675887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4 capas de extensibilidad + subagentes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74519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Hooks, CI, scheduling y Agent SDK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343400"/>
            <a:ext cx="5349240" cy="1051560"/>
          </a:xfrm>
          <a:prstGeom prst="roundRect">
            <a:avLst>
              <a:gd name="adj" fmla="val 7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19672" y="4489704"/>
            <a:ext cx="1097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D97757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0" y="452628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EAED"/>
                </a:solidFill>
                <a:latin typeface="Segoe UI"/>
              </a:rPr>
              <a:t>Metodología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0" y="4910328"/>
            <a:ext cx="3977639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 · GSD · CodeGraph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ounded Rectangle 29"/>
          <p:cNvSpPr/>
          <p:nvPr/>
        </p:nvSpPr>
        <p:spPr>
          <a:xfrm>
            <a:off x="640080" y="3941064"/>
            <a:ext cx="5394960" cy="12344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Instalar es una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Native (recomendado)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-fsSL https://claude.ai/install.sh | bash — macOS/Linux/WSL, con auto-update.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Homebrew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brew install --cask claude-code (brew upgrade para actualizar).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Windows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winget install Anthropic.ClaudeCode · o el instalador PowerShell.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449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461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Linux pkg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apt / dnf / apk en Debian, Fedora, RHEL, Alpine.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2" y="4133088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 err="1">
                <a:solidFill>
                  <a:srgbClr val="7AA2C7"/>
                </a:solidFill>
                <a:latin typeface="Segoe UI"/>
              </a:rPr>
              <a:t>Arrancar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cualquier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proyecto</a:t>
            </a:r>
            <a:endParaRPr sz="1100" b="1" dirty="0">
              <a:solidFill>
                <a:srgbClr val="7AA2C7"/>
              </a:solidFill>
              <a:latin typeface="Segoe U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8962" y="4343399"/>
            <a:ext cx="4937760" cy="6342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lang="en-US"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cd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tu-proyecto</a:t>
            </a:r>
            <a:endParaRPr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           # login la 1ª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vez</a:t>
            </a:r>
            <a:endParaRPr sz="1150" b="0" dirty="0">
              <a:solidFill>
                <a:srgbClr val="E8EAED"/>
              </a:solidFill>
              <a:latin typeface="Consolas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17920" y="3995928"/>
            <a:ext cx="5257800" cy="15544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4041647"/>
            <a:ext cx="4800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dirty="0">
                <a:solidFill>
                  <a:srgbClr val="7AA2C7"/>
                </a:solidFill>
                <a:latin typeface="Segoe UI"/>
              </a:rPr>
              <a:t>El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mismo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motor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en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7AA2C7"/>
                </a:solidFill>
                <a:latin typeface="Segoe UI"/>
              </a:rPr>
              <a:t>todas</a:t>
            </a:r>
            <a:r>
              <a:rPr sz="1400" b="1" dirty="0">
                <a:solidFill>
                  <a:srgbClr val="7AA2C7"/>
                </a:solidFill>
                <a:latin typeface="Segoe UI"/>
              </a:rPr>
              <a:t>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325112"/>
            <a:ext cx="4754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Terminal · VS Code / Cursor · JetBrains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Desktop (diffs, sesiones en paralelo)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(claude.ai/code, tareas largas)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Abres `claude` y conversas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2860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(-p) — componible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prompt: entra por stdin, sale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Encaja en tuberías Unix y en CI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toda la automatización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Claude, dos formas de invocarlo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617720"/>
            <a:ext cx="10927080" cy="100584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tail -200 app.log | claude -p "avísame si ves anomalías"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git diff main --name-only | claude -p "revisa estos ficheros por seguridad"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74519"/>
            <a:ext cx="5349240" cy="274320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484632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~55 ledgers autocontenidos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Recortamos el CLAUDE.md ~73% sin perder información: punteros, no copias.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INSTRUCCIONES, PERMISOS Y AUTO-MEMORY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Jerarquía, permisos y memoria automática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3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Jerarquía de CLAUDE.md (se combinan)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5486400" cy="20116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691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~/.claude/CLAUDE.md      # global usuario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&lt;repo&gt;/CLAUDE.md         # compartido (versionado)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&lt;repo&gt;/sub/CLAUDE.md     # al entrar en la subcarpeta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&lt;repo&gt;/CLAUDE.local.md   # personal, no versionado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64208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 específico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settings.json: allow / deny / ask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Reglas concretas, no Bash(*)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mcp__serena__find_symbol, pytest exacto…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60520"/>
            <a:ext cx="10927080" cy="14173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36168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Auto-memory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18888"/>
            <a:ext cx="10424159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guarda aprendizajes (comandos de build, pistas de debug) entre sesiones sin que escribas nada.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Sesiones que viajan entre superficies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Teleport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--teleport trae una sesión web/móvil al terminal.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965960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1671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5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Remote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Sigue una sesión local desde el móvil o cualquier navegador.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Desktop handoff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/desktop pasa la sesión al Desktop para revisar diffs.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227832"/>
            <a:ext cx="5335524" cy="100584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42900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Channels / Slack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Empuja eventos externos o convierte un bug de Slack en un PR.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motor y los mismos CLAUDE.md/settings/MCP en todas las superficies.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03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Estándar abierto para enchufar Claude a datos y tools externas. Las tools aparecen como </a:t>
            </a:r>
            <a:r>
              <a:rPr sz="1250" b="1">
                <a:solidFill>
                  <a:srgbClr val="D97757"/>
                </a:solidFill>
                <a:latin typeface="Consolas"/>
              </a:rPr>
              <a:t>mcp__&lt;server&gt;__&lt;tool&gt;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41247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7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local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.claude/settings.local.json — solo tú, esta máquina.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2331720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32804" y="25328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32804" y="25511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780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4596" y="2788920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en la raíz, versionado, compartido con el equipo.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41247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7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~/.claude.json — todos tus proyectos.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1636" y="3502152"/>
            <a:ext cx="5335524" cy="91440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432804" y="370332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32804" y="372160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4845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que uso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4596" y="3959352"/>
            <a:ext cx="4375404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· supabase.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15384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526280"/>
            <a:ext cx="10927080" cy="1051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6112" y="4709160"/>
            <a:ext cx="10469880" cy="731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add --transport http context7 https://mcp.context7.com/mcp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claude mcp list      # estado      /mcp   # auth OAuth y tools dentro de la sesión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04 · PLUGINS, TOOLS Y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Cuatro capas de extensibilidad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Claude puede hacer: Read/Edit/Bash/Grep/Task + mcp__*. Gobernadas por permisos.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Slash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.claude/commands/x.md = /x. El cuerpo es el prompt. Lo invocas tú.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.claude/skills/x/SKILL.md con description. Claude la auto-selecciona; lleva scripts/plantillas.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182111"/>
            <a:ext cx="5335524" cy="105156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383279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5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Plugins + 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1"/>
            <a:ext cx="4375404" cy="5486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Agrupan skills+comandos+agentes+MCP+hooks. /plugin install. GSD es uno.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Slash command = atajo que invocas tú. Skill = capacidad que Claude decide usar.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8346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PreToolUse, PostToolUse, SessionStart,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Matcher = regex sobre el nombre de la tool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0 permite · exit 2 BLOQUEA (stderr → Claude)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Pre = intención (tool_input) · Post = resultado (tool_response)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14884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(payload.tool_input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?.file_path?.includes(".env"))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console.error("Bloqueado: no leas .env");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process.exit(2);   // &lt;-- veto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process.exit(0);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instrucciones le pides que se porte bien; con un hook lo garantizas.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05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programados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 (prettier), type-check bloqueante, 'IA revisando IA' vía SDK.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874519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207568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piping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claude -p en cualquier tubería Unix o script.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 Actions · GitLab · GitHub Code Review sobre cada PR.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3090672"/>
            <a:ext cx="5335524" cy="960120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291840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310128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36976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47872"/>
            <a:ext cx="4375404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Routines (/schedule, infra Anthropic) · Desktop tasks · /loop.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114800"/>
            <a:ext cx="10927080" cy="114300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6112" y="4297680"/>
            <a:ext cx="10469880" cy="858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lang="en-US" sz="1150" b="0" dirty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import { query } from "@anthropic-ai/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claude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-agent-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sdk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for await (const m of query({ prompt, options: { 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allowedTools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: ["Edit"] } }))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dirty="0">
                <a:solidFill>
                  <a:srgbClr val="E8EAED"/>
                </a:solidFill>
                <a:latin typeface="Consolas"/>
              </a:rPr>
              <a:t>  if 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m.type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 === "result") console.log(</a:t>
            </a:r>
            <a:r>
              <a:rPr sz="1150" b="0" dirty="0" err="1">
                <a:solidFill>
                  <a:srgbClr val="E8EAED"/>
                </a:solidFill>
                <a:latin typeface="Consolas"/>
              </a:rPr>
              <a:t>m.result</a:t>
            </a:r>
            <a:r>
              <a:rPr sz="1150" b="0" dirty="0">
                <a:solidFill>
                  <a:srgbClr val="E8EAED"/>
                </a:solidFill>
                <a:latin typeface="Consolas"/>
              </a:rPr>
              <a:t>);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4251960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dirty="0">
                <a:solidFill>
                  <a:srgbClr val="7AA2C7"/>
                </a:solidFill>
                <a:latin typeface="Segoe UI"/>
              </a:rPr>
              <a:t>Agent SDK — workflows a 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medida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(</a:t>
            </a:r>
            <a:r>
              <a:rPr sz="1100" b="1" dirty="0" err="1">
                <a:solidFill>
                  <a:srgbClr val="7AA2C7"/>
                </a:solidFill>
                <a:latin typeface="Segoe UI"/>
              </a:rPr>
              <a:t>menor</a:t>
            </a:r>
            <a:r>
              <a:rPr sz="1100" b="1" dirty="0">
                <a:solidFill>
                  <a:srgbClr val="7AA2C7"/>
                </a:solidFill>
                <a:latin typeface="Segoe UI"/>
              </a:rPr>
              <a:t> privilegio)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10927080" cy="1051560"/>
          </a:xfrm>
          <a:prstGeom prst="roundRect">
            <a:avLst>
              <a:gd name="adj" fmla="val 6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108960"/>
            <a:ext cx="5349240" cy="1874519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6809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 — history-first Y status-first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6809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76809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6809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7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6809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7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→ acuerdo humano explícito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4892040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68096" y="4992624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7" y="4946903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1874519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391656" y="1975103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 + gate outbound (contrato)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2478024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391656" y="2578608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3081528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6391656" y="3182112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3685031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6391656" y="3785615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5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5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63640" y="4288536"/>
            <a:ext cx="5349240" cy="512064"/>
          </a:xfrm>
          <a:prstGeom prst="roundRect">
            <a:avLst>
              <a:gd name="adj" fmla="val 14000"/>
            </a:avLst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6391656" y="4389120"/>
            <a:ext cx="310896" cy="310896"/>
          </a:xfrm>
          <a:prstGeom prst="roundRect">
            <a:avLst>
              <a:gd name="adj" fmla="val 4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399"/>
            <a:ext cx="46634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Ninguna etapa dice 'pídele al LLM que lo arregle': la potencia se canaliza por gates.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Claude,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del CLAUDE.md: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STATUS.md / ledgers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346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8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3192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3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3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3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coste 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48056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02920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/ F12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577840"/>
            <a:ext cx="10927080" cy="457200"/>
          </a:xfrm>
          <a:prstGeom prst="roundRect">
            <a:avLst>
              <a:gd name="adj" fmla="val 12000"/>
            </a:avLst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59"/>
            <a:ext cx="26517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59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LLM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59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10927080" cy="566928"/>
          </a:xfrm>
          <a:prstGeom prst="roundRect">
            <a:avLst>
              <a:gd name="adj" fmla="val 10000"/>
            </a:avLst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4203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40080" y="254203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dirty="0">
                <a:solidFill>
                  <a:srgbClr val="E8EAED"/>
                </a:solidFill>
                <a:latin typeface="Segoe UI"/>
              </a:rPr>
              <a:t>STATUS.md </a:t>
            </a:r>
            <a:r>
              <a:rPr sz="1100" b="0" dirty="0" err="1">
                <a:solidFill>
                  <a:srgbClr val="E8EAED"/>
                </a:solidFill>
                <a:latin typeface="Segoe UI"/>
              </a:rPr>
              <a:t>revela</a:t>
            </a:r>
            <a:r>
              <a:rPr sz="1100" b="0" dirty="0">
                <a:solidFill>
                  <a:srgbClr val="E8EAED"/>
                </a:solidFill>
                <a:latin typeface="Segoe UI"/>
              </a:rPr>
              <a:t> un SHARP_EDGE </a:t>
            </a:r>
            <a:r>
              <a:rPr sz="1100" b="0" dirty="0" err="1">
                <a:solidFill>
                  <a:srgbClr val="E8EAED"/>
                </a:solidFill>
                <a:latin typeface="Segoe UI"/>
              </a:rPr>
              <a:t>que</a:t>
            </a:r>
            <a:r>
              <a:rPr sz="1100" b="0" dirty="0">
                <a:solidFill>
                  <a:srgbClr val="E8EAED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E8EAED"/>
                </a:solidFill>
                <a:latin typeface="Segoe UI"/>
              </a:rPr>
              <a:t>restringe</a:t>
            </a:r>
            <a:r>
              <a:rPr sz="1100" b="0" dirty="0">
                <a:solidFill>
                  <a:srgbClr val="E8EAED"/>
                </a:solidFill>
                <a:latin typeface="Segoe UI"/>
              </a:rPr>
              <a:t> el fix; git/</a:t>
            </a:r>
            <a:r>
              <a:rPr sz="1100" b="0" dirty="0" err="1">
                <a:solidFill>
                  <a:srgbClr val="E8EAED"/>
                </a:solidFill>
                <a:latin typeface="Segoe UI"/>
              </a:rPr>
              <a:t>gh</a:t>
            </a:r>
            <a:r>
              <a:rPr sz="1100" b="0" dirty="0">
                <a:solidFill>
                  <a:srgbClr val="E8EAED"/>
                </a:solidFill>
                <a:latin typeface="Segoe UI"/>
              </a:rPr>
              <a:t> dan la base </a:t>
            </a:r>
            <a:r>
              <a:rPr sz="1100" b="0" dirty="0" err="1">
                <a:solidFill>
                  <a:srgbClr val="E8EAED"/>
                </a:solidFill>
                <a:latin typeface="Segoe UI"/>
              </a:rPr>
              <a:t>correcta</a:t>
            </a:r>
            <a:r>
              <a:rPr sz="1100" b="0" dirty="0">
                <a:solidFill>
                  <a:srgbClr val="E8EAED"/>
                </a:solidFill>
                <a:latin typeface="Segoe U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054096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3054096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(Playwright/F12) → el Lambda es responsable.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40080" y="3566160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078224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0080" y="4078224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localizan el detector; un _diag_pdf.py determinista da la causa: SIN LLM.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90288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40080" y="4590288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por propiedad estructural (no cliente) → regresión byte-idéntica + contrato local.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02352"/>
            <a:ext cx="10927080" cy="438912"/>
          </a:xfrm>
          <a:prstGeom prst="roundRect">
            <a:avLst>
              <a:gd name="adj" fmla="val 12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640080" y="5102352"/>
            <a:ext cx="73152" cy="438912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Sanitizar → el humano hace push/PR. Un bot detecta un caso más → test + PLAYBOOK.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METODOLOGÍA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runbook real: sincronizar máquinas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Outbound — copia completa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tarball: workspace + ~/.claude · .aws · .ssh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-h dereferencia el symlink de .aws (crítico)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Excluye venvs / node_modules / caches / .codegraph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AWS CLI + CodeGraph + índice: se rehacen en destino (target-setup.sh)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349240" cy="237744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Inbound — solo delta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código ya está en GitHub → git fetch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los docs gitignored de data/ (unos MB) viajan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backup + diff de STATUS.md; STOP si hubo ediciones propias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“Descubre, no asumas”: deriva la raíz (ls -d /mnt/*/ILS)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10469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landing lo conduce un agente — con guardrails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10424159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no-destructivo (renombrar, no borrar) · git fetch = única op de red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hace push / merge; el agente prepara y reporta con evidencia (conteos, PRs)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metodología no es solo para código: memoria durable, guardrails y 'el humano hace lo externo' también en ops.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la metodología hecha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623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Ciclo por fases, estado versionado en .planning/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5623560" cy="29260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1663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/gsd-new-project  -&gt; PROJECT.md + ROADMAP.md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/gsd-plan-phase   -&gt; PLAN.md  (+ gate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gsd-plan-checker)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/gsd-execute-phase-&gt; olas paralelas,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commits atómicos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/gsd-verify-work  -&gt; VERIFICATION.md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endParaRPr sz="1150" b="0">
              <a:solidFill>
                <a:srgbClr val="E8EAED"/>
              </a:solidFill>
              <a:latin typeface="Consolas"/>
            </a:endParaRP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/gsd-progress     # qué toca ahora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700784"/>
            <a:ext cx="5074920" cy="324612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59" y="1901952"/>
            <a:ext cx="4617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Subagentes especializados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359152"/>
            <a:ext cx="4572000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gsd-planner — desglose + dependencias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gsd-plan-checker — ¿logrará el objetivo? (goal-backward)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gsd-executor — commits atómicos, checkpoints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gsd-code-reviewer — REVIEW.md por severidad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gsd-verifier — verifica el OBJETIVO, no solo tareas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GSD automatiza los gates que la metodología aplica a mano: plan, verificación, rastro durable.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06 · HERRAMIENTAS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828800"/>
            <a:ext cx="5349240" cy="219456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 (install --location=global escribe el MCP)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011680"/>
            <a:ext cx="5349240" cy="1554480"/>
          </a:xfrm>
          <a:prstGeom prst="roundRect">
            <a:avLst>
              <a:gd name="adj" fmla="val 5000"/>
            </a:avLst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serve --path &lt;repo&gt; --mcp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94760"/>
            <a:ext cx="5349240" cy="1097280"/>
          </a:xfrm>
          <a:prstGeom prst="roundRect">
            <a:avLst>
              <a:gd name="adj" fmla="val 6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913632"/>
            <a:ext cx="49377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 --path fija el repo por defecto.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806440"/>
            <a:ext cx="10927080" cy="475488"/>
          </a:xfrm>
          <a:prstGeom prst="roundRect">
            <a:avLst>
              <a:gd name="adj" fmla="val 28000"/>
            </a:avLst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40080" y="5806440"/>
            <a:ext cx="82296" cy="475488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Claude Code · Sesión técnica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41247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41247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Instalar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Una línea; interactivo para pensar, -p para automatizar.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178308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32804" y="198424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00253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2938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Memoria &amp; sesiones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4028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Contexto lean de dos niveles; sesiones que viajan.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41247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7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Conecta tus datos, docs, navegador y tooling.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288036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432804" y="308152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32804" y="309981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02666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 &amp; plugins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33756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Empaqueta y distribuye flujos repetibles.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41247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41247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Automatización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Hooks que garantizan calidad; CI; scheduling; SDK.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3977640"/>
            <a:ext cx="5335524" cy="841248"/>
          </a:xfrm>
          <a:prstGeom prst="roundRect">
            <a:avLst>
              <a:gd name="adj" fmla="val 9000"/>
            </a:avLst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6432804" y="4178808"/>
            <a:ext cx="457200" cy="457200"/>
          </a:xfrm>
          <a:prstGeom prst="roundRect">
            <a:avLst>
              <a:gd name="adj" fmla="val 3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32804" y="4197096"/>
            <a:ext cx="457200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123944"/>
            <a:ext cx="43754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Metodología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434840"/>
            <a:ext cx="4375404" cy="338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Agente disciplinado: 11 etapas, gates, tools reales.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code.claude.com/docs  ·  github.com/tomascortereal/claude-code-setup  ·  colbymchenry.github.io/codegraph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2547</Words>
  <Application>Microsoft Office PowerPoint</Application>
  <PresentationFormat>Widescreen</PresentationFormat>
  <Paragraphs>356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Jan SHR</cp:lastModifiedBy>
  <cp:revision>3</cp:revision>
  <dcterms:created xsi:type="dcterms:W3CDTF">2013-01-27T09:14:16Z</dcterms:created>
  <dcterms:modified xsi:type="dcterms:W3CDTF">2026-07-06T19:01:39Z</dcterms:modified>
  <cp:category/>
</cp:coreProperties>
</file>