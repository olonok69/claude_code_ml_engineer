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5" name="Rectangle 114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F85BB-65D7-0B6B-A637-312ABF20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3468" y="4741948"/>
            <a:ext cx="6829520" cy="862031"/>
          </a:xfrm>
        </p:spPr>
        <p:txBody>
          <a:bodyPr>
            <a:norm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Agentic Ai</a:t>
            </a:r>
            <a:br>
              <a:rPr lang="en-US" sz="1600" b="1">
                <a:solidFill>
                  <a:srgbClr val="FFFFFF"/>
                </a:solidFill>
              </a:rPr>
            </a:br>
            <a:br>
              <a:rPr lang="en-US" sz="1600" b="1">
                <a:solidFill>
                  <a:srgbClr val="FFFFFF"/>
                </a:solidFill>
              </a:rPr>
            </a:br>
            <a:r>
              <a:rPr lang="en-US" sz="1600" b="1">
                <a:solidFill>
                  <a:srgbClr val="FFFFFF"/>
                </a:solidFill>
              </a:rPr>
              <a:t>Claude Code: from assistant to agentic developing system</a:t>
            </a:r>
            <a:endParaRPr lang="en-GB" sz="1600">
              <a:solidFill>
                <a:srgbClr val="FFFFFF"/>
              </a:solidFill>
            </a:endParaRPr>
          </a:p>
        </p:txBody>
      </p:sp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6" y="444074"/>
            <a:ext cx="3797570" cy="1765870"/>
          </a:xfrm>
          <a:prstGeom prst="rect">
            <a:avLst/>
          </a:prstGeom>
        </p:spPr>
      </p:pic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22" y="2422097"/>
            <a:ext cx="2432184" cy="2013804"/>
          </a:xfrm>
          <a:prstGeom prst="rect">
            <a:avLst/>
          </a:prstGeom>
        </p:spPr>
      </p:pic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549" y="480651"/>
            <a:ext cx="3793472" cy="3793484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711" y="4525715"/>
            <a:ext cx="1866605" cy="201055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B591550-236E-C092-2595-79DBAAF3ABAD}"/>
              </a:ext>
            </a:extLst>
          </p:cNvPr>
          <p:cNvGrpSpPr/>
          <p:nvPr/>
        </p:nvGrpSpPr>
        <p:grpSpPr>
          <a:xfrm>
            <a:off x="8086176" y="737057"/>
            <a:ext cx="3797984" cy="3280672"/>
            <a:chOff x="8086176" y="737057"/>
            <a:chExt cx="3797984" cy="328067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DF5EB6-DF3D-702D-7DAE-675423396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86176" y="737057"/>
              <a:ext cx="3797984" cy="32806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4BD6C5-8DF2-E669-7A95-169D1F56A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18841" y="840007"/>
              <a:ext cx="1295581" cy="3238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EE30954D-B99B-5794-83DE-E304686660F1}"/>
              </a:ext>
            </a:extLst>
          </p:cNvPr>
          <p:cNvSpPr/>
          <p:nvPr/>
        </p:nvSpPr>
        <p:spPr>
          <a:xfrm>
            <a:off x="-82296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60B63D-C1F5-00FC-B7C0-84A9C5972257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CE552-5271-A4ED-EF57-A2731E4BB67E}"/>
              </a:ext>
            </a:extLst>
          </p:cNvPr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 AND AGENT TEAMS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3A10A-ABB9-3449-03D2-98D8A7A83EBF}"/>
              </a:ext>
            </a:extLst>
          </p:cNvPr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 Teams: several Claudes coordinating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815B85-1E66-F07E-E8C4-BCF5AD623A6E}"/>
              </a:ext>
            </a:extLst>
          </p:cNvPr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D23D4-2CE1-8A2D-4E18-ECE73B85D37F}"/>
              </a:ext>
            </a:extLst>
          </p:cNvPr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6997B-B88D-4C1F-6A97-7E31D4373D01}"/>
              </a:ext>
            </a:extLst>
          </p:cNvPr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047FE3-F06A-A831-7182-18CA8413D426}"/>
              </a:ext>
            </a:extLst>
          </p:cNvPr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" y="750198"/>
            <a:ext cx="11594592" cy="56486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dirty="0">
                <a:solidFill>
                  <a:srgbClr val="E8EAED"/>
                </a:solidFill>
                <a:latin typeface="Segoe UI"/>
              </a:rPr>
              <a:t>A real example: application architecture</a:t>
            </a:r>
            <a:endParaRPr sz="3000" b="1" dirty="0">
              <a:solidFill>
                <a:srgbClr val="E8EAED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27080" cy="566928"/>
          </a:xfrm>
          <a:prstGeom prst="roundRect">
            <a:avLst>
              <a:gd name="adj" fmla="val 10000"/>
            </a:avLst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QA bug: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“a field shows empty in the UI, but it's written in the PDF.”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54203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/kg surfaces the danger zone (a SHARP_EDGE constraining the fix); git/gh give the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54096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30540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The field is empty in the endpoint JSON (Playwright/F12) → the Lambda is responsible.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Re-extract on the previous base: already empty → pre-existing, not a regression.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78224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407822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locate the detector; a deterministic _diag_pdf.py gives the cause: NO LLM.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90288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45902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RED test → structural fix (not client) → no-op regression + local contract (wrapper) + inside the deployed image.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0235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510235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Sanitize → the human does push/PR. A bot catches one more case → test + PLAYBOOK.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model doesn't earn trust for free: it earns it decision by decision, with evidence.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" y="1387551"/>
            <a:ext cx="11308842" cy="5413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